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 want to explain AI agents in simple terms, show what I have built with them, and suggest how we could use them in HR.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chatbot answers and stops. An agent gets a goal and loops: plan, act with tools, check the result, improve, until the job is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ChatGPT, Claude and Gemini are the brains. An agent like Hermes, Claude Code or Codex wraps a brain with tools and a schedule, so it can actually do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things separate an agent from a chatbot: schedules, tools, step-by-step thinking, a persona, installable skills, and teamwork with other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agent is a model plus three things. The model is the brain, and you choose it per job: cheap and fast for simple work, stronger for judgment. Soul is its character and job description, Skills are its playbooks, Memory is its experience with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I have been building: a small team of AI agents that run all day on one cheap server. I talk to them through Discord, like a team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give tasks to my CEO agent. It breaks them down, hands them to the right specialist, then reports back to me. Each specialist has its own role and personality.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live office view my engineer agent built for the team. Each character is an agent; when one is working on a task you can see it move to its desk.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message from me becomes a small project: the CEO plans it, the designer makes the visual, marketing writes the caption, the CEO checks it, and I approve. Some work also runs on its own every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researcher posts a news brief at 7 AM with the day's key events. Right: the CEO sends me one daily report summarising what every agent did.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just chat with the trading analyst like a person: what I saw and what I did, plus a chart. It turns that into a clean journal entry in Notion, with the plan, the reason, and an honest review of the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Dojima is a full trading-practice app with paper money. I am not a programmer: I describe what I want, Claude Code (an AI agent) writes the code and publishes it. It has a frontend you see, a backend that runs the logic, and a database that stores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idea as my team, applied to HR. One Head of HR agent receives requests from the HR team and delegates to specialists: job descriptions, recruitment, onboarding, reports, policy questions and training. HR still reviews and approves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suggestion: start small with one agent and one task, see it working within a week, then grow from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ink"/>
          <p:cNvSpPr/>
          <p:nvPr/>
        </p:nvSpPr>
        <p:spPr>
          <a:xfrm>
            <a:off x="-76200" y="-76200"/>
            <a:ext cx="12344400" cy="7010400"/>
          </a:xfrm>
          <a:prstGeom prst="roundRect">
            <a:avLst>
              <a:gd name="adj" fmla="val 91"/>
            </a:avLst>
          </a:prstGeom>
          <a:solidFill>
            <a:srgbClr val="0A0A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7112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spc="16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GUIDE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467600" y="7112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spc="16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HR TEAM</a:t>
            </a:r>
            <a:endParaRPr lang="en-US" sz="1000" dirty="0"/>
          </a:p>
        </p:txBody>
      </p:sp>
      <p:sp>
        <p:nvSpPr>
          <p:cNvPr id="5" name="!!title"/>
          <p:cNvSpPr txBox="1"/>
          <p:nvPr/>
        </p:nvSpPr>
        <p:spPr>
          <a:xfrm>
            <a:off x="863600" y="1270000"/>
            <a:ext cx="762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spc="-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5000" dirty="0"/>
          </a:p>
        </p:txBody>
      </p:sp>
      <p:sp>
        <p:nvSpPr>
          <p:cNvPr id="6" name="!!title2"/>
          <p:cNvSpPr txBox="1"/>
          <p:nvPr/>
        </p:nvSpPr>
        <p:spPr>
          <a:xfrm>
            <a:off x="863600" y="2984500"/>
            <a:ext cx="8255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</a:t>
            </a:r>
            <a:endParaRPr lang="en-US" sz="15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283200"/>
            <a:ext cx="571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chatting with AI</a:t>
            </a:r>
            <a:endParaRPr lang="en-US" sz="2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</a:t>
            </a:r>
            <a:pPr algn="l"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</a:t>
            </a:r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AI.</a:t>
            </a:r>
            <a:endParaRPr lang="en-US" sz="2400" dirty="0"/>
          </a:p>
        </p:txBody>
      </p:sp>
      <p:sp>
        <p:nvSpPr>
          <p:cNvPr id="8" name="!!halo"/>
          <p:cNvSpPr/>
          <p:nvPr/>
        </p:nvSpPr>
        <p:spPr>
          <a:xfrm>
            <a:off x="8026400" y="1447800"/>
            <a:ext cx="3454400" cy="3454400"/>
          </a:xfrm>
          <a:prstGeom prst="ellipse">
            <a:avLst/>
          </a:prstGeom>
          <a:ln w="12700">
            <a:solidFill>
              <a:srgbClr val="2A2A2A"/>
            </a:solidFill>
            <a:prstDash val="dash"/>
          </a:ln>
        </p:spPr>
      </p:sp>
      <p:sp>
        <p:nvSpPr>
          <p:cNvPr id="9" name="!!ring"/>
          <p:cNvSpPr/>
          <p:nvPr/>
        </p:nvSpPr>
        <p:spPr>
          <a:xfrm>
            <a:off x="8356600" y="1778000"/>
            <a:ext cx="2794000" cy="2794000"/>
          </a:xfrm>
          <a:prstGeom prst="ellipse">
            <a:avLst/>
          </a:prstGeom>
          <a:ln w="15875">
            <a:solidFill>
              <a:srgbClr val="808080"/>
            </a:solidFill>
            <a:prstDash val="solid"/>
          </a:ln>
        </p:spPr>
      </p:sp>
      <p:sp>
        <p:nvSpPr>
          <p:cNvPr id="10" name="!!inner"/>
          <p:cNvSpPr/>
          <p:nvPr/>
        </p:nvSpPr>
        <p:spPr>
          <a:xfrm>
            <a:off x="9144000" y="2565400"/>
            <a:ext cx="1219200" cy="1219200"/>
          </a:xfrm>
          <a:prstGeom prst="ellipse">
            <a:avLst/>
          </a:prstGeom>
          <a:ln w="12700">
            <a:solidFill>
              <a:srgbClr val="2A2A2A"/>
            </a:solidFill>
            <a:prstDash val="solid"/>
          </a:ln>
        </p:spPr>
      </p:sp>
      <p:sp>
        <p:nvSpPr>
          <p:cNvPr id="11" name="!!node0"/>
          <p:cNvSpPr/>
          <p:nvPr/>
        </p:nvSpPr>
        <p:spPr>
          <a:xfrm>
            <a:off x="9671050" y="1695450"/>
            <a:ext cx="165100" cy="1651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!!nodeLabel0"/>
          <p:cNvSpPr txBox="1"/>
          <p:nvPr/>
        </p:nvSpPr>
        <p:spPr>
          <a:xfrm>
            <a:off x="9245600" y="1955800"/>
            <a:ext cx="101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200" dirty="0"/>
          </a:p>
        </p:txBody>
      </p:sp>
      <p:sp>
        <p:nvSpPr>
          <p:cNvPr id="13" name="!!node1"/>
          <p:cNvSpPr/>
          <p:nvPr/>
        </p:nvSpPr>
        <p:spPr>
          <a:xfrm>
            <a:off x="11068050" y="3092450"/>
            <a:ext cx="165100" cy="1651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!!nodeLabel1"/>
          <p:cNvSpPr txBox="1"/>
          <p:nvPr/>
        </p:nvSpPr>
        <p:spPr>
          <a:xfrm>
            <a:off x="9931400" y="3067050"/>
            <a:ext cx="101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200" dirty="0"/>
          </a:p>
        </p:txBody>
      </p:sp>
      <p:sp>
        <p:nvSpPr>
          <p:cNvPr id="15" name="!!node2"/>
          <p:cNvSpPr/>
          <p:nvPr/>
        </p:nvSpPr>
        <p:spPr>
          <a:xfrm>
            <a:off x="9671050" y="4489450"/>
            <a:ext cx="165100" cy="1651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!!nodeLabel2"/>
          <p:cNvSpPr txBox="1"/>
          <p:nvPr/>
        </p:nvSpPr>
        <p:spPr>
          <a:xfrm>
            <a:off x="9245600" y="4178300"/>
            <a:ext cx="101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200" dirty="0"/>
          </a:p>
        </p:txBody>
      </p:sp>
      <p:sp>
        <p:nvSpPr>
          <p:cNvPr id="17" name="!!node3"/>
          <p:cNvSpPr/>
          <p:nvPr/>
        </p:nvSpPr>
        <p:spPr>
          <a:xfrm>
            <a:off x="8274050" y="3092450"/>
            <a:ext cx="165100" cy="1651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!!nodeLabel3"/>
          <p:cNvSpPr txBox="1"/>
          <p:nvPr/>
        </p:nvSpPr>
        <p:spPr>
          <a:xfrm>
            <a:off x="8559800" y="3067050"/>
            <a:ext cx="101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200" dirty="0"/>
          </a:p>
        </p:txBody>
      </p:sp>
      <p:sp>
        <p:nvSpPr>
          <p:cNvPr id="19" name="!!orbit"/>
          <p:cNvSpPr/>
          <p:nvPr/>
        </p:nvSpPr>
        <p:spPr>
          <a:xfrm>
            <a:off x="10690628" y="2136372"/>
            <a:ext cx="101600" cy="101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!!goal"/>
          <p:cNvSpPr txBox="1"/>
          <p:nvPr/>
        </p:nvSpPr>
        <p:spPr>
          <a:xfrm>
            <a:off x="9144000" y="2984500"/>
            <a:ext cx="121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goal</a:t>
            </a:r>
            <a:endParaRPr lang="en-US" sz="1500" dirty="0"/>
          </a:p>
        </p:txBody>
      </p:sp>
      <p:sp>
        <p:nvSpPr>
          <p:cNvPr id="21" name="!!progress"/>
          <p:cNvSpPr/>
          <p:nvPr/>
        </p:nvSpPr>
        <p:spPr>
          <a:xfrm>
            <a:off x="0" y="6832600"/>
            <a:ext cx="870857" cy="254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ink"/>
          <p:cNvSpPr/>
          <p:nvPr/>
        </p:nvSpPr>
        <p:spPr>
          <a:xfrm>
            <a:off x="8413750" y="2889250"/>
            <a:ext cx="1333500" cy="13335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" name="!!title"/>
          <p:cNvSpPr txBox="1"/>
          <p:nvPr/>
        </p:nvSpPr>
        <p:spPr>
          <a:xfrm>
            <a:off x="914400" y="698500"/>
            <a:ext cx="10363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spc="-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that</a:t>
            </a:r>
            <a:endParaRPr lang="en-US" sz="4800" dirty="0"/>
          </a:p>
        </p:txBody>
      </p:sp>
      <p:sp>
        <p:nvSpPr>
          <p:cNvPr id="4" name="!!title2"/>
          <p:cNvSpPr txBox="1"/>
          <p:nvPr/>
        </p:nvSpPr>
        <p:spPr>
          <a:xfrm>
            <a:off x="914400" y="1320292"/>
            <a:ext cx="1036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92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gets things done</a:t>
            </a:r>
            <a:endParaRPr lang="en-US" sz="4992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13000"/>
            <a:ext cx="482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AI </a:t>
            </a:r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your question.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95600"/>
            <a:ext cx="482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</a:t>
            </a:r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a goal</a:t>
            </a:r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works on it step by step, uses tools, and checks its own result.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4064000"/>
            <a:ext cx="4826000" cy="6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292600"/>
            <a:ext cx="482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of it as an AI employee, not an AI search box.</a:t>
            </a:r>
            <a:endParaRPr lang="en-US" sz="2600" dirty="0"/>
          </a:p>
        </p:txBody>
      </p:sp>
      <p:sp>
        <p:nvSpPr>
          <p:cNvPr id="9" name="!!ring"/>
          <p:cNvSpPr/>
          <p:nvPr/>
        </p:nvSpPr>
        <p:spPr>
          <a:xfrm>
            <a:off x="7493000" y="1968500"/>
            <a:ext cx="3175000" cy="3175000"/>
          </a:xfrm>
          <a:prstGeom prst="ellipse">
            <a:avLst/>
          </a:prstGeom>
          <a:ln w="19050">
            <a:solidFill>
              <a:srgbClr val="0A0A0A"/>
            </a:solidFill>
            <a:prstDash val="solid"/>
          </a:ln>
        </p:spPr>
      </p:sp>
      <p:sp>
        <p:nvSpPr>
          <p:cNvPr id="10" name="!!node0"/>
          <p:cNvSpPr/>
          <p:nvPr/>
        </p:nvSpPr>
        <p:spPr>
          <a:xfrm>
            <a:off x="8623300" y="1511300"/>
            <a:ext cx="914400" cy="9144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11" name="!!nodeLabel0"/>
          <p:cNvSpPr txBox="1"/>
          <p:nvPr/>
        </p:nvSpPr>
        <p:spPr>
          <a:xfrm>
            <a:off x="8623300" y="15113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500" dirty="0"/>
          </a:p>
        </p:txBody>
      </p:sp>
      <p:sp>
        <p:nvSpPr>
          <p:cNvPr id="12" name="!!node1"/>
          <p:cNvSpPr/>
          <p:nvPr/>
        </p:nvSpPr>
        <p:spPr>
          <a:xfrm>
            <a:off x="10210800" y="3098800"/>
            <a:ext cx="914400" cy="9144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13" name="!!nodeLabel1"/>
          <p:cNvSpPr txBox="1"/>
          <p:nvPr/>
        </p:nvSpPr>
        <p:spPr>
          <a:xfrm>
            <a:off x="10210800" y="309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500" dirty="0"/>
          </a:p>
        </p:txBody>
      </p:sp>
      <p:sp>
        <p:nvSpPr>
          <p:cNvPr id="14" name="!!node2"/>
          <p:cNvSpPr/>
          <p:nvPr/>
        </p:nvSpPr>
        <p:spPr>
          <a:xfrm>
            <a:off x="8623300" y="4686300"/>
            <a:ext cx="914400" cy="9144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15" name="!!nodeLabel2"/>
          <p:cNvSpPr txBox="1"/>
          <p:nvPr/>
        </p:nvSpPr>
        <p:spPr>
          <a:xfrm>
            <a:off x="8623300" y="46863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500" dirty="0"/>
          </a:p>
        </p:txBody>
      </p:sp>
      <p:sp>
        <p:nvSpPr>
          <p:cNvPr id="16" name="!!node3"/>
          <p:cNvSpPr/>
          <p:nvPr/>
        </p:nvSpPr>
        <p:spPr>
          <a:xfrm>
            <a:off x="7035800" y="3098800"/>
            <a:ext cx="914400" cy="9144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17" name="!!nodeLabel3"/>
          <p:cNvSpPr txBox="1"/>
          <p:nvPr/>
        </p:nvSpPr>
        <p:spPr>
          <a:xfrm>
            <a:off x="7035800" y="309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500" dirty="0"/>
          </a:p>
        </p:txBody>
      </p:sp>
      <p:sp>
        <p:nvSpPr>
          <p:cNvPr id="18" name="!!orbit"/>
          <p:cNvSpPr/>
          <p:nvPr/>
        </p:nvSpPr>
        <p:spPr>
          <a:xfrm>
            <a:off x="10145882" y="4621382"/>
            <a:ext cx="114300" cy="1143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9" name="!!goal"/>
          <p:cNvSpPr txBox="1"/>
          <p:nvPr/>
        </p:nvSpPr>
        <p:spPr>
          <a:xfrm>
            <a:off x="8413750" y="2889250"/>
            <a:ext cx="1333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goal</a:t>
            </a:r>
            <a:endParaRPr lang="en-US" sz="2300" dirty="0"/>
          </a:p>
        </p:txBody>
      </p:sp>
      <p:sp>
        <p:nvSpPr>
          <p:cNvPr id="20" name="!!section"/>
          <p:cNvSpPr txBox="1"/>
          <p:nvPr/>
        </p:nvSpPr>
        <p:spPr>
          <a:xfrm>
            <a:off x="914400" y="6388100"/>
            <a:ext cx="571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AI AGENT</a:t>
            </a:r>
            <a:endParaRPr lang="en-US" sz="900" dirty="0"/>
          </a:p>
        </p:txBody>
      </p:sp>
      <p:sp>
        <p:nvSpPr>
          <p:cNvPr id="21" name="!!count"/>
          <p:cNvSpPr txBox="1"/>
          <p:nvPr/>
        </p:nvSpPr>
        <p:spPr>
          <a:xfrm>
            <a:off x="9372600" y="63881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14</a:t>
            </a:r>
            <a:endParaRPr lang="en-US" sz="900" dirty="0"/>
          </a:p>
        </p:txBody>
      </p:sp>
      <p:sp>
        <p:nvSpPr>
          <p:cNvPr id="22" name="!!progress"/>
          <p:cNvSpPr/>
          <p:nvPr/>
        </p:nvSpPr>
        <p:spPr>
          <a:xfrm>
            <a:off x="0" y="6832600"/>
            <a:ext cx="1741714" cy="25400"/>
          </a:xfrm>
          <a:prstGeom prst="rect">
            <a:avLst/>
          </a:prstGeom>
          <a:solidFill>
            <a:srgbClr val="0A0A0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ink"/>
          <p:cNvSpPr/>
          <p:nvPr/>
        </p:nvSpPr>
        <p:spPr>
          <a:xfrm>
            <a:off x="5994400" y="1841500"/>
            <a:ext cx="5283200" cy="3530600"/>
          </a:xfrm>
          <a:prstGeom prst="roundRect">
            <a:avLst>
              <a:gd name="adj" fmla="val 4317"/>
            </a:avLst>
          </a:prstGeom>
          <a:solidFill>
            <a:srgbClr val="0A0A0A"/>
          </a:solidFill>
          <a:ln/>
        </p:spPr>
      </p:sp>
      <p:sp>
        <p:nvSpPr>
          <p:cNvPr id="3" name="!!title"/>
          <p:cNvSpPr txBox="1"/>
          <p:nvPr/>
        </p:nvSpPr>
        <p:spPr>
          <a:xfrm>
            <a:off x="914400" y="762000"/>
            <a:ext cx="1036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spc="-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AI </a:t>
            </a:r>
            <a:pPr algn="l" indent="0" marL="0">
              <a:lnSpc>
                <a:spcPct val="110000"/>
              </a:lnSpc>
              <a:buNone/>
            </a:pPr>
            <a:r>
              <a:rPr lang="en-US" sz="4800" i="1" spc="-200" kern="0" dirty="0">
                <a:solidFill>
                  <a:srgbClr val="A8A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pPr algn="l" indent="0" marL="0">
              <a:lnSpc>
                <a:spcPct val="110000"/>
              </a:lnSpc>
              <a:buNone/>
            </a:pPr>
            <a:r>
              <a:rPr lang="en-US" sz="4800" spc="-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Agent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1841500"/>
            <a:ext cx="4978400" cy="353060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0800" y="2222500"/>
            <a:ext cx="444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spc="160" kern="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/ CHAT AI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320800" y="2451100"/>
            <a:ext cx="457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320800" y="292100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· Claude · Gemini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20800" y="3365500"/>
            <a:ext cx="4470400" cy="6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0800" y="35814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778000" y="3517900"/>
            <a:ext cx="393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ask a question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20800" y="4000500"/>
            <a:ext cx="4470400" cy="6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0800" y="42164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778000" y="4152900"/>
            <a:ext cx="393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gives an answer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20800" y="4635500"/>
            <a:ext cx="4470400" cy="6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20800" y="48514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778000" y="4787900"/>
            <a:ext cx="393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stops and waits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222500"/>
            <a:ext cx="444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spc="16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451100"/>
            <a:ext cx="457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+ hands + a schedule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92100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· Claude Code · Codex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3365500"/>
            <a:ext cx="4470400" cy="64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35814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3517900"/>
            <a:ext cx="393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give it a goal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0" y="4000500"/>
            <a:ext cx="4470400" cy="64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42164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4152900"/>
            <a:ext cx="393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plans and does the work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0" y="4635500"/>
            <a:ext cx="4470400" cy="64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0" y="48514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4787900"/>
            <a:ext cx="393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reports back when done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5715000"/>
            <a:ext cx="1036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=  </a:t>
            </a:r>
            <a:pPr algn="l"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brain.</a:t>
            </a:r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Agent</a:t>
            </a:r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=  </a:t>
            </a:r>
            <a:pPr algn="l"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 + hands + a schedule.</a:t>
            </a:r>
            <a:endParaRPr lang="en-US" sz="1900" dirty="0"/>
          </a:p>
        </p:txBody>
      </p:sp>
      <p:sp>
        <p:nvSpPr>
          <p:cNvPr id="30" name="!!section"/>
          <p:cNvSpPr txBox="1"/>
          <p:nvPr/>
        </p:nvSpPr>
        <p:spPr>
          <a:xfrm>
            <a:off x="914400" y="6388100"/>
            <a:ext cx="571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AI VS AI AGENT</a:t>
            </a:r>
            <a:endParaRPr lang="en-US" sz="900" dirty="0"/>
          </a:p>
        </p:txBody>
      </p:sp>
      <p:sp>
        <p:nvSpPr>
          <p:cNvPr id="31" name="!!count"/>
          <p:cNvSpPr txBox="1"/>
          <p:nvPr/>
        </p:nvSpPr>
        <p:spPr>
          <a:xfrm>
            <a:off x="9372600" y="63881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14</a:t>
            </a:r>
            <a:endParaRPr lang="en-US" sz="900" dirty="0"/>
          </a:p>
        </p:txBody>
      </p:sp>
      <p:sp>
        <p:nvSpPr>
          <p:cNvPr id="32" name="!!progress"/>
          <p:cNvSpPr/>
          <p:nvPr/>
        </p:nvSpPr>
        <p:spPr>
          <a:xfrm>
            <a:off x="0" y="6832600"/>
            <a:ext cx="2612571" cy="25400"/>
          </a:xfrm>
          <a:prstGeom prst="rect">
            <a:avLst/>
          </a:prstGeom>
          <a:solidFill>
            <a:srgbClr val="0A0A0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ink"/>
          <p:cNvSpPr/>
          <p:nvPr/>
        </p:nvSpPr>
        <p:spPr>
          <a:xfrm>
            <a:off x="914400" y="2527300"/>
            <a:ext cx="10363200" cy="25400"/>
          </a:xfrm>
          <a:prstGeom prst="roundRect">
            <a:avLst>
              <a:gd name="adj" fmla="val 25000"/>
            </a:avLst>
          </a:prstGeom>
          <a:solidFill>
            <a:srgbClr val="0A0A0A"/>
          </a:solidFill>
          <a:ln/>
        </p:spPr>
      </p:sp>
      <p:sp>
        <p:nvSpPr>
          <p:cNvPr id="3" name="!!title"/>
          <p:cNvSpPr txBox="1"/>
          <p:nvPr/>
        </p:nvSpPr>
        <p:spPr>
          <a:xfrm>
            <a:off x="914400" y="698500"/>
            <a:ext cx="10363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spc="-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an agent can do</a:t>
            </a:r>
            <a:endParaRPr lang="en-US" sz="4800" dirty="0"/>
          </a:p>
        </p:txBody>
      </p:sp>
      <p:sp>
        <p:nvSpPr>
          <p:cNvPr id="4" name="!!title2"/>
          <p:cNvSpPr txBox="1"/>
          <p:nvPr/>
        </p:nvSpPr>
        <p:spPr>
          <a:xfrm>
            <a:off x="914400" y="1320292"/>
            <a:ext cx="1036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92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chat can’t</a:t>
            </a:r>
            <a:endParaRPr lang="en-US" sz="4992" dirty="0"/>
          </a:p>
        </p:txBody>
      </p:sp>
      <p:sp>
        <p:nvSpPr>
          <p:cNvPr id="5" name="Shape 3"/>
          <p:cNvSpPr/>
          <p:nvPr/>
        </p:nvSpPr>
        <p:spPr>
          <a:xfrm>
            <a:off x="914400" y="4356100"/>
            <a:ext cx="10363200" cy="6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68800" y="2540000"/>
            <a:ext cx="64" cy="363220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23200" y="2540000"/>
            <a:ext cx="64" cy="363220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94000"/>
            <a:ext cx="355600" cy="355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3327400"/>
            <a:ext cx="304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a schedule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746500"/>
            <a:ext cx="279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tasks at set times, without being asked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0" y="2794000"/>
            <a:ext cx="355600" cy="355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73600" y="3327400"/>
            <a:ext cx="304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tools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73600" y="3746500"/>
            <a:ext cx="279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Browses the web, edits files, runs apps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794000"/>
            <a:ext cx="355600" cy="355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128000" y="3327400"/>
            <a:ext cx="304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Thinks in steps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8128000" y="3746500"/>
            <a:ext cx="279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a goal into steps and decides what’s next</a:t>
            </a:r>
            <a:endParaRPr lang="en-US" sz="14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610100"/>
            <a:ext cx="355600" cy="355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4400" y="5143500"/>
            <a:ext cx="304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 persona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914400" y="5562600"/>
            <a:ext cx="279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role, tone and set of rules</a:t>
            </a:r>
            <a:endParaRPr lang="en-US" sz="14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600" y="4610100"/>
            <a:ext cx="355600" cy="355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673600" y="5143500"/>
            <a:ext cx="304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skills</a:t>
            </a:r>
            <a:endParaRPr lang="en-US" sz="2000" dirty="0"/>
          </a:p>
        </p:txBody>
      </p:sp>
      <p:sp>
        <p:nvSpPr>
          <p:cNvPr id="22" name="Text 15"/>
          <p:cNvSpPr txBox="1"/>
          <p:nvPr/>
        </p:nvSpPr>
        <p:spPr>
          <a:xfrm>
            <a:off x="4673600" y="5562600"/>
            <a:ext cx="279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new abilities, like apps on a phone</a:t>
            </a:r>
            <a:endParaRPr lang="en-US" sz="14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0" y="4610100"/>
            <a:ext cx="355600" cy="3556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128000" y="5143500"/>
            <a:ext cx="304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a team</a:t>
            </a:r>
            <a:endParaRPr lang="en-US" sz="2000" dirty="0"/>
          </a:p>
        </p:txBody>
      </p:sp>
      <p:sp>
        <p:nvSpPr>
          <p:cNvPr id="25" name="Text 17"/>
          <p:cNvSpPr txBox="1"/>
          <p:nvPr/>
        </p:nvSpPr>
        <p:spPr>
          <a:xfrm>
            <a:off x="8128000" y="5562600"/>
            <a:ext cx="279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 work to other agents in a workflow</a:t>
            </a:r>
            <a:endParaRPr lang="en-US" sz="1400" dirty="0"/>
          </a:p>
        </p:txBody>
      </p:sp>
      <p:sp>
        <p:nvSpPr>
          <p:cNvPr id="26" name="!!section"/>
          <p:cNvSpPr txBox="1"/>
          <p:nvPr/>
        </p:nvSpPr>
        <p:spPr>
          <a:xfrm>
            <a:off x="914400" y="6388100"/>
            <a:ext cx="571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AGENTS CAN DO</a:t>
            </a:r>
            <a:endParaRPr lang="en-US" sz="900" dirty="0"/>
          </a:p>
        </p:txBody>
      </p:sp>
      <p:sp>
        <p:nvSpPr>
          <p:cNvPr id="27" name="!!count"/>
          <p:cNvSpPr txBox="1"/>
          <p:nvPr/>
        </p:nvSpPr>
        <p:spPr>
          <a:xfrm>
            <a:off x="9372600" y="63881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14</a:t>
            </a:r>
            <a:endParaRPr lang="en-US" sz="900" dirty="0"/>
          </a:p>
        </p:txBody>
      </p:sp>
      <p:sp>
        <p:nvSpPr>
          <p:cNvPr id="28" name="!!progress"/>
          <p:cNvSpPr/>
          <p:nvPr/>
        </p:nvSpPr>
        <p:spPr>
          <a:xfrm>
            <a:off x="0" y="6832600"/>
            <a:ext cx="3483429" cy="25400"/>
          </a:xfrm>
          <a:prstGeom prst="rect">
            <a:avLst/>
          </a:prstGeom>
          <a:solidFill>
            <a:srgbClr val="0A0A0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ink"/>
          <p:cNvSpPr/>
          <p:nvPr/>
        </p:nvSpPr>
        <p:spPr>
          <a:xfrm>
            <a:off x="914400" y="5156200"/>
            <a:ext cx="10363200" cy="1003300"/>
          </a:xfrm>
          <a:prstGeom prst="roundRect">
            <a:avLst>
              <a:gd name="adj" fmla="val 15190"/>
            </a:avLst>
          </a:prstGeom>
          <a:solidFill>
            <a:srgbClr val="0A0A0A"/>
          </a:solidFill>
          <a:ln/>
        </p:spPr>
      </p:sp>
      <p:sp>
        <p:nvSpPr>
          <p:cNvPr id="3" name="!!title"/>
          <p:cNvSpPr txBox="1"/>
          <p:nvPr/>
        </p:nvSpPr>
        <p:spPr>
          <a:xfrm>
            <a:off x="914400" y="698500"/>
            <a:ext cx="10363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spc="-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every agent</a:t>
            </a:r>
            <a:endParaRPr lang="en-US" sz="4800" dirty="0"/>
          </a:p>
        </p:txBody>
      </p:sp>
      <p:sp>
        <p:nvSpPr>
          <p:cNvPr id="4" name="!!title2"/>
          <p:cNvSpPr txBox="1"/>
          <p:nvPr/>
        </p:nvSpPr>
        <p:spPr>
          <a:xfrm>
            <a:off x="914400" y="1320292"/>
            <a:ext cx="1036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92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made of</a:t>
            </a:r>
            <a:endParaRPr lang="en-US" sz="4992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00" y="5480050"/>
            <a:ext cx="355600" cy="355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52600" y="5448300"/>
            <a:ext cx="152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3022600" y="56007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16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 UNDERNEATH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080000" y="539750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Picked per job: </a:t>
            </a:r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small, fast model</a:t>
            </a:r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simple tasks, </a:t>
            </a:r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stronger one</a:t>
            </a:r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judgment and creative work.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2476500"/>
            <a:ext cx="33655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755900"/>
            <a:ext cx="355600" cy="355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84400" y="28321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spc="160" kern="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219200" y="3721100"/>
            <a:ext cx="2755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1219200" y="4292600"/>
            <a:ext cx="2755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Personality, role and rules, written in one file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413250" y="2476500"/>
            <a:ext cx="33655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050" y="2755900"/>
            <a:ext cx="355600" cy="355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683250" y="28321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spc="160" kern="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CAN DO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4718050" y="3721100"/>
            <a:ext cx="2755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2800" dirty="0"/>
          </a:p>
        </p:txBody>
      </p:sp>
      <p:sp>
        <p:nvSpPr>
          <p:cNvPr id="18" name="Text 13"/>
          <p:cNvSpPr txBox="1"/>
          <p:nvPr/>
        </p:nvSpPr>
        <p:spPr>
          <a:xfrm>
            <a:off x="4718050" y="4292600"/>
            <a:ext cx="2755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playbooks and tools it can use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912100" y="2476500"/>
            <a:ext cx="33655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900" y="2755900"/>
            <a:ext cx="355600" cy="355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82100" y="28321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spc="160" kern="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REMEMBERS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8216900" y="3721100"/>
            <a:ext cx="2755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2800" dirty="0"/>
          </a:p>
        </p:txBody>
      </p:sp>
      <p:sp>
        <p:nvSpPr>
          <p:cNvPr id="23" name="Text 17"/>
          <p:cNvSpPr txBox="1"/>
          <p:nvPr/>
        </p:nvSpPr>
        <p:spPr>
          <a:xfrm>
            <a:off x="8216900" y="4292600"/>
            <a:ext cx="2755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about you, your work and past tasks</a:t>
            </a:r>
            <a:endParaRPr lang="en-US" sz="1400" dirty="0"/>
          </a:p>
        </p:txBody>
      </p:sp>
      <p:sp>
        <p:nvSpPr>
          <p:cNvPr id="24" name="!!section"/>
          <p:cNvSpPr txBox="1"/>
          <p:nvPr/>
        </p:nvSpPr>
        <p:spPr>
          <a:xfrm>
            <a:off x="914400" y="6388100"/>
            <a:ext cx="571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BUILDING BLOCKS</a:t>
            </a:r>
            <a:endParaRPr lang="en-US" sz="900" dirty="0"/>
          </a:p>
        </p:txBody>
      </p:sp>
      <p:sp>
        <p:nvSpPr>
          <p:cNvPr id="25" name="!!count"/>
          <p:cNvSpPr txBox="1"/>
          <p:nvPr/>
        </p:nvSpPr>
        <p:spPr>
          <a:xfrm>
            <a:off x="9372600" y="63881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14</a:t>
            </a:r>
            <a:endParaRPr lang="en-US" sz="900" dirty="0"/>
          </a:p>
        </p:txBody>
      </p:sp>
      <p:sp>
        <p:nvSpPr>
          <p:cNvPr id="26" name="!!progress"/>
          <p:cNvSpPr/>
          <p:nvPr/>
        </p:nvSpPr>
        <p:spPr>
          <a:xfrm>
            <a:off x="0" y="6832600"/>
            <a:ext cx="4354286" cy="25400"/>
          </a:xfrm>
          <a:prstGeom prst="rect">
            <a:avLst/>
          </a:prstGeom>
          <a:solidFill>
            <a:srgbClr val="0A0A0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ink"/>
          <p:cNvSpPr/>
          <p:nvPr/>
        </p:nvSpPr>
        <p:spPr>
          <a:xfrm>
            <a:off x="-76200" y="-76200"/>
            <a:ext cx="12344400" cy="7010400"/>
          </a:xfrm>
          <a:prstGeom prst="roundRect">
            <a:avLst>
              <a:gd name="adj" fmla="val 91"/>
            </a:avLst>
          </a:prstGeom>
          <a:solidFill>
            <a:srgbClr val="0A0A0A"/>
          </a:solidFill>
          <a:ln/>
        </p:spPr>
      </p:sp>
      <p:sp>
        <p:nvSpPr>
          <p:cNvPr id="3" name="!!title"/>
          <p:cNvSpPr txBox="1"/>
          <p:nvPr/>
        </p:nvSpPr>
        <p:spPr>
          <a:xfrm>
            <a:off x="914400" y="1905000"/>
            <a:ext cx="571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spc="-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own</a:t>
            </a:r>
            <a:endParaRPr lang="en-US" sz="6400" dirty="0"/>
          </a:p>
        </p:txBody>
      </p:sp>
      <p:sp>
        <p:nvSpPr>
          <p:cNvPr id="4" name="!!title2"/>
          <p:cNvSpPr txBox="1"/>
          <p:nvPr/>
        </p:nvSpPr>
        <p:spPr>
          <a:xfrm>
            <a:off x="914400" y="2730500"/>
            <a:ext cx="571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team</a:t>
            </a:r>
            <a:endParaRPr lang="en-US" sz="6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064000"/>
            <a:ext cx="520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agents</a:t>
            </a:r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running 24/7 on one small server. I manage them from Discord.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239000" y="254000"/>
            <a:ext cx="4318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50000" dirty="0"/>
          </a:p>
        </p:txBody>
      </p:sp>
      <p:sp>
        <p:nvSpPr>
          <p:cNvPr id="7" name="!!section"/>
          <p:cNvSpPr txBox="1"/>
          <p:nvPr/>
        </p:nvSpPr>
        <p:spPr>
          <a:xfrm>
            <a:off x="914400" y="6388100"/>
            <a:ext cx="571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AM BUILDING</a:t>
            </a:r>
            <a:endParaRPr lang="en-US" sz="900" dirty="0"/>
          </a:p>
        </p:txBody>
      </p:sp>
      <p:sp>
        <p:nvSpPr>
          <p:cNvPr id="8" name="!!count"/>
          <p:cNvSpPr txBox="1"/>
          <p:nvPr/>
        </p:nvSpPr>
        <p:spPr>
          <a:xfrm>
            <a:off x="9372600" y="63881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14</a:t>
            </a:r>
            <a:endParaRPr lang="en-US" sz="900" dirty="0"/>
          </a:p>
        </p:txBody>
      </p:sp>
      <p:sp>
        <p:nvSpPr>
          <p:cNvPr id="9" name="!!progress"/>
          <p:cNvSpPr/>
          <p:nvPr/>
        </p:nvSpPr>
        <p:spPr>
          <a:xfrm>
            <a:off x="0" y="6832600"/>
            <a:ext cx="5225143" cy="254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ink"/>
          <p:cNvSpPr/>
          <p:nvPr/>
        </p:nvSpPr>
        <p:spPr>
          <a:xfrm>
            <a:off x="5359400" y="2438400"/>
            <a:ext cx="1473200" cy="609600"/>
          </a:xfrm>
          <a:prstGeom prst="roundRect">
            <a:avLst>
              <a:gd name="adj" fmla="val 20833"/>
            </a:avLst>
          </a:prstGeom>
          <a:solidFill>
            <a:srgbClr val="0A0A0A"/>
          </a:solidFill>
          <a:ln/>
        </p:spPr>
      </p:sp>
      <p:sp>
        <p:nvSpPr>
          <p:cNvPr id="3" name="!!title"/>
          <p:cNvSpPr txBox="1"/>
          <p:nvPr/>
        </p:nvSpPr>
        <p:spPr>
          <a:xfrm>
            <a:off x="914400" y="762000"/>
            <a:ext cx="1036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spc="-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my team </a:t>
            </a:r>
            <a:pPr algn="l" indent="0" marL="0">
              <a:lnSpc>
                <a:spcPct val="110000"/>
              </a:lnSpc>
              <a:buNone/>
            </a:pPr>
            <a:r>
              <a:rPr lang="en-US" sz="4800" i="1" spc="-2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structured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746750" y="1701800"/>
            <a:ext cx="698500" cy="393700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46750" y="1701800"/>
            <a:ext cx="698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6000" y="2095500"/>
            <a:ext cx="64" cy="342900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59400" y="2438400"/>
            <a:ext cx="147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984500" y="2654300"/>
            <a:ext cx="2222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my tasks,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985000" y="2654300"/>
            <a:ext cx="2222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delegates, reports back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96000" y="3048000"/>
            <a:ext cx="64" cy="762000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3810000"/>
            <a:ext cx="8969829" cy="64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3810000"/>
            <a:ext cx="64" cy="660400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470400"/>
            <a:ext cx="457200" cy="4572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400" y="4597400"/>
            <a:ext cx="203200" cy="2032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14400" y="5080000"/>
            <a:ext cx="13933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5372100"/>
            <a:ext cx="134257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news and markets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637971" y="3810000"/>
            <a:ext cx="64" cy="660400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09371" y="4470400"/>
            <a:ext cx="457200" cy="4572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371" y="4597400"/>
            <a:ext cx="203200" cy="2032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2409371" y="5080000"/>
            <a:ext cx="13933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2409371" y="5372100"/>
            <a:ext cx="134257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Visuals and UI/UX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132943" y="3810000"/>
            <a:ext cx="64" cy="660400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904343" y="4470400"/>
            <a:ext cx="457200" cy="4572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343" y="4597400"/>
            <a:ext cx="203200" cy="2032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904343" y="5080000"/>
            <a:ext cx="13933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3904343" y="5372100"/>
            <a:ext cx="134257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and fixes the system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627914" y="3810000"/>
            <a:ext cx="64" cy="660400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399314" y="4470400"/>
            <a:ext cx="457200" cy="4572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314" y="4597400"/>
            <a:ext cx="203200" cy="2032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5399314" y="5080000"/>
            <a:ext cx="13933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analyst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5399314" y="5372100"/>
            <a:ext cx="134257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my trading journal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7122886" y="3810000"/>
            <a:ext cx="64" cy="660400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894286" y="4470400"/>
            <a:ext cx="457200" cy="4572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286" y="4597400"/>
            <a:ext cx="203200" cy="2032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6894286" y="5080000"/>
            <a:ext cx="13933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coach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6894286" y="5372100"/>
            <a:ext cx="134257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and nutrition check-ins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8617857" y="3810000"/>
            <a:ext cx="64" cy="660400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389257" y="4470400"/>
            <a:ext cx="457200" cy="4572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6257" y="4597400"/>
            <a:ext cx="203200" cy="2032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8389257" y="5080000"/>
            <a:ext cx="13933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41" name="Text 33"/>
          <p:cNvSpPr txBox="1"/>
          <p:nvPr/>
        </p:nvSpPr>
        <p:spPr>
          <a:xfrm>
            <a:off x="8389257" y="5372100"/>
            <a:ext cx="134257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and captions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10112829" y="3810000"/>
            <a:ext cx="64" cy="660400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9884229" y="4470400"/>
            <a:ext cx="457200" cy="4572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1229" y="4597400"/>
            <a:ext cx="203200" cy="203200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9884229" y="5080000"/>
            <a:ext cx="13933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planner</a:t>
            </a:r>
            <a:endParaRPr lang="en-US" sz="1400" dirty="0"/>
          </a:p>
        </p:txBody>
      </p:sp>
      <p:sp>
        <p:nvSpPr>
          <p:cNvPr id="46" name="Text 37"/>
          <p:cNvSpPr txBox="1"/>
          <p:nvPr/>
        </p:nvSpPr>
        <p:spPr>
          <a:xfrm>
            <a:off x="9884229" y="5372100"/>
            <a:ext cx="134257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Trips and itineraries</a:t>
            </a:r>
            <a:endParaRPr lang="en-US" sz="1100" dirty="0"/>
          </a:p>
        </p:txBody>
      </p:sp>
      <p:sp>
        <p:nvSpPr>
          <p:cNvPr id="47" name="!!section"/>
          <p:cNvSpPr txBox="1"/>
          <p:nvPr/>
        </p:nvSpPr>
        <p:spPr>
          <a:xfrm>
            <a:off x="914400" y="6388100"/>
            <a:ext cx="571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AI TEAM</a:t>
            </a:r>
            <a:endParaRPr lang="en-US" sz="900" dirty="0"/>
          </a:p>
        </p:txBody>
      </p:sp>
      <p:sp>
        <p:nvSpPr>
          <p:cNvPr id="48" name="!!count"/>
          <p:cNvSpPr txBox="1"/>
          <p:nvPr/>
        </p:nvSpPr>
        <p:spPr>
          <a:xfrm>
            <a:off x="9372600" y="63881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14</a:t>
            </a:r>
            <a:endParaRPr lang="en-US" sz="900" dirty="0"/>
          </a:p>
        </p:txBody>
      </p:sp>
      <p:sp>
        <p:nvSpPr>
          <p:cNvPr id="49" name="!!progress"/>
          <p:cNvSpPr/>
          <p:nvPr/>
        </p:nvSpPr>
        <p:spPr>
          <a:xfrm>
            <a:off x="0" y="6832600"/>
            <a:ext cx="6096000" cy="25400"/>
          </a:xfrm>
          <a:prstGeom prst="rect">
            <a:avLst/>
          </a:prstGeom>
          <a:solidFill>
            <a:srgbClr val="0A0A0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ink"/>
          <p:cNvSpPr/>
          <p:nvPr/>
        </p:nvSpPr>
        <p:spPr>
          <a:xfrm>
            <a:off x="4953000" y="1308100"/>
            <a:ext cx="6477000" cy="4250112"/>
          </a:xfrm>
          <a:prstGeom prst="roundRect">
            <a:avLst>
              <a:gd name="adj" fmla="val 4183"/>
            </a:avLst>
          </a:prstGeom>
          <a:solidFill>
            <a:srgbClr val="0A0A0A"/>
          </a:solidFill>
          <a:ln/>
        </p:spPr>
      </p:sp>
      <p:sp>
        <p:nvSpPr>
          <p:cNvPr id="3" name="!!title"/>
          <p:cNvSpPr txBox="1"/>
          <p:nvPr/>
        </p:nvSpPr>
        <p:spPr>
          <a:xfrm>
            <a:off x="914400" y="1397000"/>
            <a:ext cx="3683000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000" spc="-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office,</a:t>
            </a:r>
            <a:endParaRPr lang="en-US" sz="5000" dirty="0"/>
          </a:p>
        </p:txBody>
      </p:sp>
      <p:sp>
        <p:nvSpPr>
          <p:cNvPr id="4" name="!!title2"/>
          <p:cNvSpPr txBox="1"/>
          <p:nvPr/>
        </p:nvSpPr>
        <p:spPr>
          <a:xfrm>
            <a:off x="914400" y="2044700"/>
            <a:ext cx="3683000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984500"/>
            <a:ext cx="3556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dashboard built by my engineer agent. Every agent has a desk, so I can see at a glance </a:t>
            </a:r>
            <a:pPr algn="l"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working</a:t>
            </a:r>
            <a:pPr algn="l"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who is on standby.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4686300"/>
            <a:ext cx="88900" cy="889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46228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5016500"/>
            <a:ext cx="88900" cy="88900"/>
          </a:xfrm>
          <a:prstGeom prst="ellipse">
            <a:avLst/>
          </a:prstGeom>
          <a:solidFill>
            <a:srgbClr val="A8A8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49530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5346700"/>
            <a:ext cx="88900" cy="88900"/>
          </a:xfrm>
          <a:prstGeom prst="ellipse">
            <a:avLst/>
          </a:prstGeom>
          <a:ln w="19050">
            <a:solidFill>
              <a:srgbClr val="A8A8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5283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Standby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5400" y="1460500"/>
            <a:ext cx="6172200" cy="3945312"/>
          </a:xfrm>
          <a:prstGeom prst="rect">
            <a:avLst/>
          </a:prstGeom>
        </p:spPr>
      </p:pic>
      <p:sp>
        <p:nvSpPr>
          <p:cNvPr id="13" name="!!section"/>
          <p:cNvSpPr txBox="1"/>
          <p:nvPr/>
        </p:nvSpPr>
        <p:spPr>
          <a:xfrm>
            <a:off x="914400" y="6388100"/>
            <a:ext cx="571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OFFICE</a:t>
            </a:r>
            <a:endParaRPr lang="en-US" sz="900" dirty="0"/>
          </a:p>
        </p:txBody>
      </p:sp>
      <p:sp>
        <p:nvSpPr>
          <p:cNvPr id="14" name="!!count"/>
          <p:cNvSpPr txBox="1"/>
          <p:nvPr/>
        </p:nvSpPr>
        <p:spPr>
          <a:xfrm>
            <a:off x="9372600" y="63881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14</a:t>
            </a:r>
            <a:endParaRPr lang="en-US" sz="900" dirty="0"/>
          </a:p>
        </p:txBody>
      </p:sp>
      <p:sp>
        <p:nvSpPr>
          <p:cNvPr id="15" name="!!progress"/>
          <p:cNvSpPr/>
          <p:nvPr/>
        </p:nvSpPr>
        <p:spPr>
          <a:xfrm>
            <a:off x="0" y="6832600"/>
            <a:ext cx="6966857" cy="25400"/>
          </a:xfrm>
          <a:prstGeom prst="rect">
            <a:avLst/>
          </a:prstGeom>
          <a:solidFill>
            <a:srgbClr val="0A0A0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ink"/>
          <p:cNvSpPr/>
          <p:nvPr/>
        </p:nvSpPr>
        <p:spPr>
          <a:xfrm>
            <a:off x="1333500" y="1905000"/>
            <a:ext cx="8255000" cy="736600"/>
          </a:xfrm>
          <a:prstGeom prst="roundRect">
            <a:avLst>
              <a:gd name="adj" fmla="val 34483"/>
            </a:avLst>
          </a:prstGeom>
          <a:solidFill>
            <a:srgbClr val="0A0A0A"/>
          </a:solidFill>
          <a:ln/>
        </p:spPr>
      </p:sp>
      <p:sp>
        <p:nvSpPr>
          <p:cNvPr id="3" name="!!title"/>
          <p:cNvSpPr txBox="1"/>
          <p:nvPr/>
        </p:nvSpPr>
        <p:spPr>
          <a:xfrm>
            <a:off x="914400" y="762000"/>
            <a:ext cx="1036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spc="-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request, </a:t>
            </a:r>
            <a:pPr algn="l" indent="0" marL="0">
              <a:lnSpc>
                <a:spcPct val="110000"/>
              </a:lnSpc>
              <a:buNone/>
            </a:pPr>
            <a:r>
              <a:rPr lang="en-US" sz="4800" i="1" spc="-2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whole team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19075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spc="160" kern="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587500" y="1905000"/>
            <a:ext cx="787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“Make a visual and a caption for tomorrow’s post”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43000" y="3403600"/>
            <a:ext cx="8290560" cy="64"/>
          </a:xfrm>
          <a:prstGeom prst="line">
            <a:avLst/>
          </a:prstGeom>
          <a:noFill/>
          <a:ln w="19050">
            <a:solidFill>
              <a:srgbClr val="0A0A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175000"/>
            <a:ext cx="457200" cy="4572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400" y="3302000"/>
            <a:ext cx="203200" cy="203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3886200"/>
            <a:ext cx="186944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54500"/>
            <a:ext cx="181864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and delegates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987040" y="3175000"/>
            <a:ext cx="457200" cy="4572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040" y="3302000"/>
            <a:ext cx="203200" cy="203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87040" y="3886200"/>
            <a:ext cx="186944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2987040" y="4254500"/>
            <a:ext cx="181864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Designs the visual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059680" y="3175000"/>
            <a:ext cx="457200" cy="4572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680" y="3302000"/>
            <a:ext cx="203200" cy="203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059680" y="3886200"/>
            <a:ext cx="186944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5059680" y="4254500"/>
            <a:ext cx="181864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the caption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132320" y="3175000"/>
            <a:ext cx="457200" cy="4572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320" y="3302000"/>
            <a:ext cx="203200" cy="203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32320" y="3886200"/>
            <a:ext cx="186944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132320" y="4254500"/>
            <a:ext cx="181864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it all together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9204960" y="3175000"/>
            <a:ext cx="457200" cy="457200"/>
          </a:xfrm>
          <a:prstGeom prst="ellipse">
            <a:avLst/>
          </a:prstGeom>
          <a:solidFill>
            <a:srgbClr val="0A0A0A"/>
          </a:solidFill>
          <a:ln w="19050">
            <a:solidFill>
              <a:srgbClr val="0A0A0A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1960" y="3302000"/>
            <a:ext cx="203200" cy="2032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204960" y="3886200"/>
            <a:ext cx="186944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9204960" y="4254500"/>
            <a:ext cx="181864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 before posting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914400" y="5473700"/>
            <a:ext cx="10363200" cy="660400"/>
          </a:xfrm>
          <a:prstGeom prst="roundRect">
            <a:avLst>
              <a:gd name="adj" fmla="val 19231"/>
            </a:avLst>
          </a:prstGeom>
          <a:solidFill>
            <a:srgbClr val="F0F0F0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400" y="5676900"/>
            <a:ext cx="254000" cy="2540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600200" y="5473700"/>
            <a:ext cx="9461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autopilot every day: 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researcher scans the news  →  the CEO sends me a daily report. </a:t>
            </a:r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prompt needed.</a:t>
            </a:r>
            <a:endParaRPr lang="en-US" sz="1400" dirty="0"/>
          </a:p>
        </p:txBody>
      </p:sp>
      <p:sp>
        <p:nvSpPr>
          <p:cNvPr id="30" name="!!section"/>
          <p:cNvSpPr txBox="1"/>
          <p:nvPr/>
        </p:nvSpPr>
        <p:spPr>
          <a:xfrm>
            <a:off x="914400" y="6388100"/>
            <a:ext cx="571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WORK FLOWS</a:t>
            </a:r>
            <a:endParaRPr lang="en-US" sz="900" dirty="0"/>
          </a:p>
        </p:txBody>
      </p:sp>
      <p:sp>
        <p:nvSpPr>
          <p:cNvPr id="31" name="!!count"/>
          <p:cNvSpPr txBox="1"/>
          <p:nvPr/>
        </p:nvSpPr>
        <p:spPr>
          <a:xfrm>
            <a:off x="9372600" y="63881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14</a:t>
            </a:r>
            <a:endParaRPr lang="en-US" sz="900" dirty="0"/>
          </a:p>
        </p:txBody>
      </p:sp>
      <p:sp>
        <p:nvSpPr>
          <p:cNvPr id="32" name="!!progress"/>
          <p:cNvSpPr/>
          <p:nvPr/>
        </p:nvSpPr>
        <p:spPr>
          <a:xfrm>
            <a:off x="0" y="6832600"/>
            <a:ext cx="7837714" cy="25400"/>
          </a:xfrm>
          <a:prstGeom prst="rect">
            <a:avLst/>
          </a:prstGeom>
          <a:solidFill>
            <a:srgbClr val="0A0A0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ink"/>
          <p:cNvSpPr/>
          <p:nvPr/>
        </p:nvSpPr>
        <p:spPr>
          <a:xfrm>
            <a:off x="914400" y="1752600"/>
            <a:ext cx="10363200" cy="4267200"/>
          </a:xfrm>
          <a:prstGeom prst="roundRect">
            <a:avLst>
              <a:gd name="adj" fmla="val 4167"/>
            </a:avLst>
          </a:prstGeom>
          <a:solidFill>
            <a:srgbClr val="0A0A0A"/>
          </a:solidFill>
          <a:ln/>
        </p:spPr>
      </p:sp>
      <p:sp>
        <p:nvSpPr>
          <p:cNvPr id="3" name="!!title"/>
          <p:cNvSpPr txBox="1"/>
          <p:nvPr/>
        </p:nvSpPr>
        <p:spPr>
          <a:xfrm>
            <a:off x="914400" y="762000"/>
            <a:ext cx="1036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spc="-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output, </a:t>
            </a:r>
            <a:pPr algn="l" indent="0" marL="0">
              <a:lnSpc>
                <a:spcPct val="110000"/>
              </a:lnSpc>
              <a:buNone/>
            </a:pPr>
            <a:r>
              <a:rPr lang="en-US" sz="4800" i="1" spc="-2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morning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117600" y="19558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768600" y="2006600"/>
            <a:ext cx="322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spc="16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07:00 NEWS BRIEF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2387600"/>
            <a:ext cx="4876800" cy="330925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197600" y="19558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848600" y="2006600"/>
            <a:ext cx="322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spc="16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REPORT ON EVERYONE’S WORK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0" y="2387600"/>
            <a:ext cx="4876800" cy="3407406"/>
          </a:xfrm>
          <a:prstGeom prst="rect">
            <a:avLst/>
          </a:prstGeom>
        </p:spPr>
      </p:pic>
      <p:sp>
        <p:nvSpPr>
          <p:cNvPr id="10" name="!!section"/>
          <p:cNvSpPr txBox="1"/>
          <p:nvPr/>
        </p:nvSpPr>
        <p:spPr>
          <a:xfrm>
            <a:off x="914400" y="6388100"/>
            <a:ext cx="571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AT WORK</a:t>
            </a:r>
            <a:endParaRPr lang="en-US" sz="900" dirty="0"/>
          </a:p>
        </p:txBody>
      </p:sp>
      <p:sp>
        <p:nvSpPr>
          <p:cNvPr id="11" name="!!count"/>
          <p:cNvSpPr txBox="1"/>
          <p:nvPr/>
        </p:nvSpPr>
        <p:spPr>
          <a:xfrm>
            <a:off x="9372600" y="63881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14</a:t>
            </a:r>
            <a:endParaRPr lang="en-US" sz="900" dirty="0"/>
          </a:p>
        </p:txBody>
      </p:sp>
      <p:sp>
        <p:nvSpPr>
          <p:cNvPr id="12" name="!!progress"/>
          <p:cNvSpPr/>
          <p:nvPr/>
        </p:nvSpPr>
        <p:spPr>
          <a:xfrm>
            <a:off x="0" y="6832600"/>
            <a:ext cx="8708571" cy="25400"/>
          </a:xfrm>
          <a:prstGeom prst="rect">
            <a:avLst/>
          </a:prstGeom>
          <a:solidFill>
            <a:srgbClr val="0A0A0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ink"/>
          <p:cNvSpPr/>
          <p:nvPr/>
        </p:nvSpPr>
        <p:spPr>
          <a:xfrm>
            <a:off x="5003800" y="31750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" name="!!title"/>
          <p:cNvSpPr txBox="1"/>
          <p:nvPr/>
        </p:nvSpPr>
        <p:spPr>
          <a:xfrm>
            <a:off x="914400" y="762000"/>
            <a:ext cx="1036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spc="-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my notes </a:t>
            </a:r>
            <a:pPr algn="l" indent="0" marL="0">
              <a:lnSpc>
                <a:spcPct val="110000"/>
              </a:lnSpc>
              <a:buNone/>
            </a:pPr>
            <a:r>
              <a:rPr lang="en-US" sz="4800" i="1" spc="-2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a clean journal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159000"/>
            <a:ext cx="406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spc="160" kern="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 SEND MY NOTES + CHART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38400"/>
            <a:ext cx="4064000" cy="1868049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100" y="3289300"/>
            <a:ext cx="279400" cy="279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613400" y="2159000"/>
            <a:ext cx="566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spc="160" kern="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THE AGENT REVIEWS AND LOGS IT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400" y="2438400"/>
            <a:ext cx="5664200" cy="261838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14400" y="5588000"/>
            <a:ext cx="10363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analyst:  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a casual chat message into a structured journal entry, with a review of the decision.</a:t>
            </a:r>
            <a:endParaRPr lang="en-US" sz="1500" dirty="0"/>
          </a:p>
        </p:txBody>
      </p:sp>
      <p:sp>
        <p:nvSpPr>
          <p:cNvPr id="10" name="!!section"/>
          <p:cNvSpPr txBox="1"/>
          <p:nvPr/>
        </p:nvSpPr>
        <p:spPr>
          <a:xfrm>
            <a:off x="914400" y="6388100"/>
            <a:ext cx="571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AT WORK</a:t>
            </a:r>
            <a:endParaRPr lang="en-US" sz="900" dirty="0"/>
          </a:p>
        </p:txBody>
      </p:sp>
      <p:sp>
        <p:nvSpPr>
          <p:cNvPr id="11" name="!!count"/>
          <p:cNvSpPr txBox="1"/>
          <p:nvPr/>
        </p:nvSpPr>
        <p:spPr>
          <a:xfrm>
            <a:off x="9372600" y="63881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14</a:t>
            </a:r>
            <a:endParaRPr lang="en-US" sz="900" dirty="0"/>
          </a:p>
        </p:txBody>
      </p:sp>
      <p:sp>
        <p:nvSpPr>
          <p:cNvPr id="12" name="!!progress"/>
          <p:cNvSpPr/>
          <p:nvPr/>
        </p:nvSpPr>
        <p:spPr>
          <a:xfrm>
            <a:off x="0" y="6832600"/>
            <a:ext cx="9579429" cy="25400"/>
          </a:xfrm>
          <a:prstGeom prst="rect">
            <a:avLst/>
          </a:prstGeom>
          <a:solidFill>
            <a:srgbClr val="0A0A0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ink"/>
          <p:cNvSpPr/>
          <p:nvPr/>
        </p:nvSpPr>
        <p:spPr>
          <a:xfrm>
            <a:off x="-76200" y="-76200"/>
            <a:ext cx="12344400" cy="7010400"/>
          </a:xfrm>
          <a:prstGeom prst="roundRect">
            <a:avLst>
              <a:gd name="adj" fmla="val 91"/>
            </a:avLst>
          </a:prstGeom>
          <a:solidFill>
            <a:srgbClr val="0A0A0A"/>
          </a:solidFill>
          <a:ln/>
        </p:spPr>
      </p:sp>
      <p:sp>
        <p:nvSpPr>
          <p:cNvPr id="3" name="!!title"/>
          <p:cNvSpPr txBox="1"/>
          <p:nvPr/>
        </p:nvSpPr>
        <p:spPr>
          <a:xfrm>
            <a:off x="889000" y="635000"/>
            <a:ext cx="381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0" spc="-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Dojima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03200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trading-practice web app I built with Claude Code, </a:t>
            </a:r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writing the code myself.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3924300"/>
            <a:ext cx="3556000" cy="64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114800"/>
            <a:ext cx="254000" cy="254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84300" y="40640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84300" y="43180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see: charts, journal, themes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14400" y="4673600"/>
            <a:ext cx="3556000" cy="64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864100"/>
            <a:ext cx="254000" cy="2540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84300" y="48133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84300" y="50673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engine: orders, replay, login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914400" y="5422900"/>
            <a:ext cx="3556000" cy="64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613400"/>
            <a:ext cx="254000" cy="2540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84300" y="55626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84300" y="58166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memory: accounts and trades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914400" y="6172200"/>
            <a:ext cx="3556000" cy="64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400" y="1714500"/>
            <a:ext cx="6299200" cy="29739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978400" y="5016500"/>
            <a:ext cx="6299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it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Claude Code 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it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it 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goes live</a:t>
            </a:r>
            <a:endParaRPr lang="en-US" sz="1500" dirty="0"/>
          </a:p>
        </p:txBody>
      </p:sp>
      <p:sp>
        <p:nvSpPr>
          <p:cNvPr id="20" name="!!section"/>
          <p:cNvSpPr txBox="1"/>
          <p:nvPr/>
        </p:nvSpPr>
        <p:spPr>
          <a:xfrm>
            <a:off x="914400" y="6388100"/>
            <a:ext cx="571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AN AGENT</a:t>
            </a:r>
            <a:endParaRPr lang="en-US" sz="900" dirty="0"/>
          </a:p>
        </p:txBody>
      </p:sp>
      <p:sp>
        <p:nvSpPr>
          <p:cNvPr id="21" name="!!count"/>
          <p:cNvSpPr txBox="1"/>
          <p:nvPr/>
        </p:nvSpPr>
        <p:spPr>
          <a:xfrm>
            <a:off x="9372600" y="63881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14</a:t>
            </a:r>
            <a:endParaRPr lang="en-US" sz="900" dirty="0"/>
          </a:p>
        </p:txBody>
      </p:sp>
      <p:sp>
        <p:nvSpPr>
          <p:cNvPr id="22" name="!!progress"/>
          <p:cNvSpPr/>
          <p:nvPr/>
        </p:nvSpPr>
        <p:spPr>
          <a:xfrm>
            <a:off x="0" y="6832600"/>
            <a:ext cx="10450286" cy="254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ink"/>
          <p:cNvSpPr/>
          <p:nvPr/>
        </p:nvSpPr>
        <p:spPr>
          <a:xfrm>
            <a:off x="4826000" y="3149600"/>
            <a:ext cx="1397000" cy="812800"/>
          </a:xfrm>
          <a:prstGeom prst="roundRect">
            <a:avLst>
              <a:gd name="adj" fmla="val 15625"/>
            </a:avLst>
          </a:prstGeom>
          <a:solidFill>
            <a:srgbClr val="0A0A0A"/>
          </a:solidFill>
          <a:ln/>
        </p:spPr>
      </p:sp>
      <p:sp>
        <p:nvSpPr>
          <p:cNvPr id="3" name="!!title"/>
          <p:cNvSpPr txBox="1"/>
          <p:nvPr/>
        </p:nvSpPr>
        <p:spPr>
          <a:xfrm>
            <a:off x="914400" y="698500"/>
            <a:ext cx="3556000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200" spc="-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team</a:t>
            </a:r>
            <a:endParaRPr lang="en-US" sz="5200" dirty="0"/>
          </a:p>
        </p:txBody>
      </p:sp>
      <p:sp>
        <p:nvSpPr>
          <p:cNvPr id="4" name="!!title2"/>
          <p:cNvSpPr txBox="1"/>
          <p:nvPr/>
        </p:nvSpPr>
        <p:spPr>
          <a:xfrm>
            <a:off x="914400" y="1372108"/>
            <a:ext cx="355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8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HR</a:t>
            </a:r>
            <a:endParaRPr lang="en-US" sz="5408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13000"/>
            <a:ext cx="3175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orchestrator that understands HR, with a specialist for each job.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930900"/>
            <a:ext cx="177800" cy="177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93800" y="5905500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still reviews and approves everything.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26000" y="1905000"/>
            <a:ext cx="1079500" cy="406400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26000" y="1905000"/>
            <a:ext cx="1079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team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80000" y="2311400"/>
            <a:ext cx="64" cy="838200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91100" y="3149600"/>
            <a:ext cx="12065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HR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b="1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23000" y="3556000"/>
            <a:ext cx="381000" cy="64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04000" y="2000250"/>
            <a:ext cx="64" cy="3111500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04000" y="2000250"/>
            <a:ext cx="381000" cy="64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85000" y="1822450"/>
            <a:ext cx="355600" cy="3556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900" y="1911350"/>
            <a:ext cx="177800" cy="1778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518400" y="1860550"/>
            <a:ext cx="177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descriptions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9398000" y="1784350"/>
            <a:ext cx="2159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JDs from a short brief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604000" y="2622550"/>
            <a:ext cx="381000" cy="64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85000" y="2444750"/>
            <a:ext cx="355600" cy="3556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900" y="2533650"/>
            <a:ext cx="177800" cy="1778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518400" y="2482850"/>
            <a:ext cx="177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9398000" y="2406650"/>
            <a:ext cx="2159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notes and interview kits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604000" y="3244850"/>
            <a:ext cx="381000" cy="64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985000" y="3067050"/>
            <a:ext cx="355600" cy="3556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3900" y="3155950"/>
            <a:ext cx="177800" cy="1778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518400" y="3105150"/>
            <a:ext cx="177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9398000" y="3028950"/>
            <a:ext cx="2159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Checklists and first-week plans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604000" y="3867150"/>
            <a:ext cx="381000" cy="64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985000" y="3689350"/>
            <a:ext cx="355600" cy="3556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3900" y="3778250"/>
            <a:ext cx="177800" cy="1778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518400" y="3727450"/>
            <a:ext cx="177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reports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9398000" y="3651250"/>
            <a:ext cx="2159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and monthly summaries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604000" y="4489450"/>
            <a:ext cx="381000" cy="64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985000" y="4311650"/>
            <a:ext cx="355600" cy="3556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3900" y="4400550"/>
            <a:ext cx="177800" cy="1778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518400" y="4349750"/>
            <a:ext cx="177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Q&amp;A</a:t>
            </a:r>
            <a:endParaRPr lang="en-US" sz="1600" dirty="0"/>
          </a:p>
        </p:txBody>
      </p:sp>
      <p:sp>
        <p:nvSpPr>
          <p:cNvPr id="38" name="Text 30"/>
          <p:cNvSpPr txBox="1"/>
          <p:nvPr/>
        </p:nvSpPr>
        <p:spPr>
          <a:xfrm>
            <a:off x="9398000" y="4273550"/>
            <a:ext cx="2159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staff questions from the handbook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6604000" y="5111750"/>
            <a:ext cx="381000" cy="64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6985000" y="4933950"/>
            <a:ext cx="355600" cy="35560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3900" y="5022850"/>
            <a:ext cx="177800" cy="1778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518400" y="4972050"/>
            <a:ext cx="177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600" dirty="0"/>
          </a:p>
        </p:txBody>
      </p:sp>
      <p:sp>
        <p:nvSpPr>
          <p:cNvPr id="43" name="Text 34"/>
          <p:cNvSpPr txBox="1"/>
          <p:nvPr/>
        </p:nvSpPr>
        <p:spPr>
          <a:xfrm>
            <a:off x="9398000" y="4895850"/>
            <a:ext cx="2159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plans and materials</a:t>
            </a:r>
            <a:endParaRPr lang="en-US" sz="1200" dirty="0"/>
          </a:p>
        </p:txBody>
      </p:sp>
      <p:sp>
        <p:nvSpPr>
          <p:cNvPr id="44" name="!!section"/>
          <p:cNvSpPr txBox="1"/>
          <p:nvPr/>
        </p:nvSpPr>
        <p:spPr>
          <a:xfrm>
            <a:off x="914400" y="6388100"/>
            <a:ext cx="571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FOR HR</a:t>
            </a:r>
            <a:endParaRPr lang="en-US" sz="900" dirty="0"/>
          </a:p>
        </p:txBody>
      </p:sp>
      <p:sp>
        <p:nvSpPr>
          <p:cNvPr id="45" name="!!count"/>
          <p:cNvSpPr txBox="1"/>
          <p:nvPr/>
        </p:nvSpPr>
        <p:spPr>
          <a:xfrm>
            <a:off x="9372600" y="63881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pPr algn="r" indent="0" marL="0">
              <a:lnSpc>
                <a:spcPct val="110000"/>
              </a:lnSpc>
              <a:buNone/>
            </a:pPr>
            <a:r>
              <a:rPr lang="en-US" sz="900" spc="12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14</a:t>
            </a:r>
            <a:endParaRPr lang="en-US" sz="900" dirty="0"/>
          </a:p>
        </p:txBody>
      </p:sp>
      <p:sp>
        <p:nvSpPr>
          <p:cNvPr id="46" name="!!progress"/>
          <p:cNvSpPr/>
          <p:nvPr/>
        </p:nvSpPr>
        <p:spPr>
          <a:xfrm>
            <a:off x="0" y="6832600"/>
            <a:ext cx="11321143" cy="25400"/>
          </a:xfrm>
          <a:prstGeom prst="rect">
            <a:avLst/>
          </a:prstGeom>
          <a:solidFill>
            <a:srgbClr val="0A0A0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ink"/>
          <p:cNvSpPr/>
          <p:nvPr/>
        </p:nvSpPr>
        <p:spPr>
          <a:xfrm>
            <a:off x="-76200" y="-76200"/>
            <a:ext cx="12344400" cy="7010400"/>
          </a:xfrm>
          <a:prstGeom prst="roundRect">
            <a:avLst>
              <a:gd name="adj" fmla="val 91"/>
            </a:avLst>
          </a:prstGeom>
          <a:solidFill>
            <a:srgbClr val="0A0A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7112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spc="16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467600" y="7112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spc="16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· A SIMPLE GUIDE</a:t>
            </a:r>
            <a:endParaRPr lang="en-US" sz="1000" dirty="0"/>
          </a:p>
        </p:txBody>
      </p:sp>
      <p:sp>
        <p:nvSpPr>
          <p:cNvPr id="5" name="!!title"/>
          <p:cNvSpPr txBox="1"/>
          <p:nvPr/>
        </p:nvSpPr>
        <p:spPr>
          <a:xfrm>
            <a:off x="863600" y="1587500"/>
            <a:ext cx="762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0" spc="-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2000" dirty="0"/>
          </a:p>
        </p:txBody>
      </p:sp>
      <p:sp>
        <p:nvSpPr>
          <p:cNvPr id="6" name="!!title2"/>
          <p:cNvSpPr txBox="1"/>
          <p:nvPr/>
        </p:nvSpPr>
        <p:spPr>
          <a:xfrm>
            <a:off x="863600" y="2984500"/>
            <a:ext cx="762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small.</a:t>
            </a:r>
            <a:endParaRPr lang="en-US" sz="12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5626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agent.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581400" y="55626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task.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248400" y="55626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week.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9055100" y="5619750"/>
            <a:ext cx="2222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11" name="!!halo"/>
          <p:cNvSpPr/>
          <p:nvPr/>
        </p:nvSpPr>
        <p:spPr>
          <a:xfrm>
            <a:off x="7607300" y="1257300"/>
            <a:ext cx="3835400" cy="3835400"/>
          </a:xfrm>
          <a:prstGeom prst="ellipse">
            <a:avLst/>
          </a:prstGeom>
          <a:ln w="12700">
            <a:solidFill>
              <a:srgbClr val="2A2A2A"/>
            </a:solidFill>
            <a:prstDash val="dash"/>
          </a:ln>
        </p:spPr>
      </p:sp>
      <p:sp>
        <p:nvSpPr>
          <p:cNvPr id="12" name="!!ring"/>
          <p:cNvSpPr/>
          <p:nvPr/>
        </p:nvSpPr>
        <p:spPr>
          <a:xfrm>
            <a:off x="7937500" y="1587500"/>
            <a:ext cx="3175000" cy="3175000"/>
          </a:xfrm>
          <a:prstGeom prst="ellipse">
            <a:avLst/>
          </a:prstGeom>
          <a:ln w="15875">
            <a:solidFill>
              <a:srgbClr val="2A2A2A"/>
            </a:solidFill>
            <a:prstDash val="solid"/>
          </a:ln>
        </p:spPr>
      </p:sp>
      <p:sp>
        <p:nvSpPr>
          <p:cNvPr id="13" name="!!orbit"/>
          <p:cNvSpPr/>
          <p:nvPr/>
        </p:nvSpPr>
        <p:spPr>
          <a:xfrm>
            <a:off x="10596732" y="2001668"/>
            <a:ext cx="101600" cy="101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!!question"/>
          <p:cNvSpPr txBox="1"/>
          <p:nvPr/>
        </p:nvSpPr>
        <p:spPr>
          <a:xfrm>
            <a:off x="7683500" y="1587500"/>
            <a:ext cx="3175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8000" dirty="0"/>
          </a:p>
        </p:txBody>
      </p:sp>
      <p:sp>
        <p:nvSpPr>
          <p:cNvPr id="15" name="!!progress"/>
          <p:cNvSpPr/>
          <p:nvPr/>
        </p:nvSpPr>
        <p:spPr>
          <a:xfrm>
            <a:off x="0" y="6832600"/>
            <a:ext cx="12192000" cy="254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Agents: a simple guide</dc:title>
  <dc:subject>From chatting with AI to working with AI</dc:subject>
  <dc:creator>PptxGenJS</dc:creator>
  <cp:lastModifiedBy>PptxGenJS</cp:lastModifiedBy>
  <cp:revision>1</cp:revision>
  <dcterms:created xsi:type="dcterms:W3CDTF">2026-10-03T02:53:38Z</dcterms:created>
  <dcterms:modified xsi:type="dcterms:W3CDTF">2026-10-03T02:53:38Z</dcterms:modified>
</cp:coreProperties>
</file>