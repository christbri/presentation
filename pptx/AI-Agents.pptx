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I want to explain AI agents in simple terms, show what I have built with them, and suggest how we could use them in 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chatbot answers and stops. An agent gets a goal and loops: plan, act with tools, check the result, improve, until the job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ChatGPT, Claude and Gemini are the brains. An agent like Hermes, Claude Code or Codex wraps a brain with tools and a schedule, so it can actually do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six things separate an agent from a chatbot: schedules, tools, step-by-step thinking, a persona, installable skills, and teamwork with other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agent is a model plus three things. The model is the brain, and you choose it per job: cheap and fast for simple work, stronger for judgment. Soul is its character and job description, Skills are its playbooks, Memory is its experience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I have been building: a small team of AI agents that run all day on one cheap server. I talk to them through Discord, like a team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give tasks to my CEO agent. It breaks them down, hands them to the right specialist, then reports back to me. Each specialist has its own role and personality.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live office view my engineer agent built for the team. Each character is an agent; when one is working on a task you can see it move to its desk.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from me becomes a small project: the CEO plans it, the designer makes the visual, marketing writes the caption, the CEO checks it, and I approve. Some work also runs on its own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researcher posts a news brief at 7 AM with the day's key events. Right: the CEO sends me one daily report summarising what every agent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just chat with the trading analyst like a person: what I saw and what I did, plus a chart. It turns that into a clean journal entry in Notion, with the plan, the reason, and an honest review of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Dojima is a full trading-practice app with paper money. I am not a programmer: I describe what I want, Claude Code (an AI agent) writes the code and publishes it. It has a frontend you see, a backend that runs the logic, and a database that stores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idea as my team, applied to HR. One Head of HR agent receives requests from the HR team and delegates to specialists: job descriptions, recruitment, onboarding, reports, policy questions and training. HR still reviews and approves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suggestion: start small with one agent and one task, see it working within a week, then grow from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1"/>
          <p:cNvSpPr txBox="1"/>
          <p:nvPr/>
        </p:nvSpPr>
        <p:spPr>
          <a:xfrm>
            <a:off x="9144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GUIDE</a:t>
            </a:r>
            <a:endParaRPr lang="en-US" sz="1000" dirty="0"/>
          </a:p>
        </p:txBody>
      </p:sp>
      <p:sp>
        <p:nvSpPr>
          <p:cNvPr id="3" name="a0_2"/>
          <p:cNvSpPr txBox="1"/>
          <p:nvPr/>
        </p:nvSpPr>
        <p:spPr>
          <a:xfrm>
            <a:off x="74676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HR TEAM</a:t>
            </a:r>
            <a:endParaRPr lang="en-US" sz="1000" dirty="0"/>
          </a:p>
        </p:txBody>
      </p:sp>
      <p:sp>
        <p:nvSpPr>
          <p:cNvPr id="4" name="a150_3"/>
          <p:cNvSpPr txBox="1"/>
          <p:nvPr/>
        </p:nvSpPr>
        <p:spPr>
          <a:xfrm>
            <a:off x="863600" y="1270000"/>
            <a:ext cx="762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000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0" dirty="0"/>
          </a:p>
        </p:txBody>
      </p:sp>
      <p:sp>
        <p:nvSpPr>
          <p:cNvPr id="5" name="a350_4"/>
          <p:cNvSpPr txBox="1"/>
          <p:nvPr/>
        </p:nvSpPr>
        <p:spPr>
          <a:xfrm>
            <a:off x="863600" y="2984500"/>
            <a:ext cx="8255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</a:t>
            </a:r>
            <a:endParaRPr lang="en-US" sz="15800" dirty="0"/>
          </a:p>
        </p:txBody>
      </p:sp>
      <p:sp>
        <p:nvSpPr>
          <p:cNvPr id="6" name="a700_5"/>
          <p:cNvSpPr txBox="1"/>
          <p:nvPr/>
        </p:nvSpPr>
        <p:spPr>
          <a:xfrm>
            <a:off x="914400" y="5283200"/>
            <a:ext cx="571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chatting with AI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</a:t>
            </a:r>
            <a:pPr algn="l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AI.</a:t>
            </a:r>
            <a:endParaRPr lang="en-US" sz="2400" dirty="0"/>
          </a:p>
        </p:txBody>
      </p:sp>
      <p:sp>
        <p:nvSpPr>
          <p:cNvPr id="7" name="a1100_6"/>
          <p:cNvSpPr txBox="1"/>
          <p:nvPr/>
        </p:nvSpPr>
        <p:spPr>
          <a:xfrm>
            <a:off x="8737600" y="59055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→ TO BEGIN</a:t>
            </a:r>
            <a:endParaRPr lang="en-US" sz="1000" dirty="0"/>
          </a:p>
        </p:txBody>
      </p:sp>
      <p:sp>
        <p:nvSpPr>
          <p:cNvPr id="8" name="progress"/>
          <p:cNvSpPr/>
          <p:nvPr/>
        </p:nvSpPr>
        <p:spPr>
          <a:xfrm>
            <a:off x="0" y="6832600"/>
            <a:ext cx="870857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7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</a:t>
            </a:r>
            <a:endParaRPr lang="en-US" sz="4800" dirty="0"/>
          </a:p>
        </p:txBody>
      </p:sp>
      <p:sp>
        <p:nvSpPr>
          <p:cNvPr id="3" name="a120_8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gets things done</a:t>
            </a:r>
            <a:endParaRPr lang="en-US" sz="4992" dirty="0"/>
          </a:p>
        </p:txBody>
      </p:sp>
      <p:sp>
        <p:nvSpPr>
          <p:cNvPr id="4" name="a400_9"/>
          <p:cNvSpPr txBox="1"/>
          <p:nvPr/>
        </p:nvSpPr>
        <p:spPr>
          <a:xfrm>
            <a:off x="914400" y="2413000"/>
            <a:ext cx="482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AI 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your question.</a:t>
            </a:r>
            <a:endParaRPr lang="en-US" sz="1700" dirty="0"/>
          </a:p>
        </p:txBody>
      </p:sp>
      <p:sp>
        <p:nvSpPr>
          <p:cNvPr id="5" name="a520_10"/>
          <p:cNvSpPr txBox="1"/>
          <p:nvPr/>
        </p:nvSpPr>
        <p:spPr>
          <a:xfrm>
            <a:off x="914400" y="2895600"/>
            <a:ext cx="482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a goal</a:t>
            </a:r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works on it step by step, uses tools, and checks its own result.</a:t>
            </a:r>
            <a:endParaRPr lang="en-US" sz="1700" dirty="0"/>
          </a:p>
        </p:txBody>
      </p:sp>
      <p:sp>
        <p:nvSpPr>
          <p:cNvPr id="6" name="a700_11"/>
          <p:cNvSpPr/>
          <p:nvPr/>
        </p:nvSpPr>
        <p:spPr>
          <a:xfrm>
            <a:off x="914400" y="4064000"/>
            <a:ext cx="48260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7" name="a760_12"/>
          <p:cNvSpPr txBox="1"/>
          <p:nvPr/>
        </p:nvSpPr>
        <p:spPr>
          <a:xfrm>
            <a:off x="914400" y="4292600"/>
            <a:ext cx="482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it as an AI employee, not an AI search box.</a:t>
            </a:r>
            <a:endParaRPr lang="en-US" sz="2600" dirty="0"/>
          </a:p>
        </p:txBody>
      </p:sp>
      <p:sp>
        <p:nvSpPr>
          <p:cNvPr id="8" name="a400_13"/>
          <p:cNvSpPr/>
          <p:nvPr/>
        </p:nvSpPr>
        <p:spPr>
          <a:xfrm>
            <a:off x="7493000" y="1968500"/>
            <a:ext cx="3175000" cy="3175000"/>
          </a:xfrm>
          <a:prstGeom prst="ellipse">
            <a:avLst/>
          </a:prstGeom>
          <a:ln w="19050">
            <a:solidFill>
              <a:srgbClr val="0A0A0A"/>
            </a:solidFill>
            <a:prstDash val="solid"/>
          </a:ln>
        </p:spPr>
      </p:sp>
      <p:sp>
        <p:nvSpPr>
          <p:cNvPr id="9" name="a600_14"/>
          <p:cNvSpPr/>
          <p:nvPr/>
        </p:nvSpPr>
        <p:spPr>
          <a:xfrm>
            <a:off x="8623300" y="15113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0" name="a600_15"/>
          <p:cNvSpPr txBox="1"/>
          <p:nvPr/>
        </p:nvSpPr>
        <p:spPr>
          <a:xfrm>
            <a:off x="8623300" y="15113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1" name="a800_16"/>
          <p:cNvSpPr/>
          <p:nvPr/>
        </p:nvSpPr>
        <p:spPr>
          <a:xfrm>
            <a:off x="10210800" y="30988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2" name="a800_17"/>
          <p:cNvSpPr txBox="1"/>
          <p:nvPr/>
        </p:nvSpPr>
        <p:spPr>
          <a:xfrm>
            <a:off x="10210800" y="309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500" dirty="0"/>
          </a:p>
        </p:txBody>
      </p:sp>
      <p:sp>
        <p:nvSpPr>
          <p:cNvPr id="13" name="a1000_18"/>
          <p:cNvSpPr/>
          <p:nvPr/>
        </p:nvSpPr>
        <p:spPr>
          <a:xfrm>
            <a:off x="8623300" y="46863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a1000_19"/>
          <p:cNvSpPr txBox="1"/>
          <p:nvPr/>
        </p:nvSpPr>
        <p:spPr>
          <a:xfrm>
            <a:off x="8623300" y="46863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500" dirty="0"/>
          </a:p>
        </p:txBody>
      </p:sp>
      <p:sp>
        <p:nvSpPr>
          <p:cNvPr id="15" name="a1200_20"/>
          <p:cNvSpPr/>
          <p:nvPr/>
        </p:nvSpPr>
        <p:spPr>
          <a:xfrm>
            <a:off x="7035800" y="3098800"/>
            <a:ext cx="914400" cy="9144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6" name="a1200_21"/>
          <p:cNvSpPr txBox="1"/>
          <p:nvPr/>
        </p:nvSpPr>
        <p:spPr>
          <a:xfrm>
            <a:off x="7035800" y="309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</a:t>
            </a:r>
            <a:endParaRPr lang="en-US" sz="1500" dirty="0"/>
          </a:p>
        </p:txBody>
      </p:sp>
      <p:sp>
        <p:nvSpPr>
          <p:cNvPr id="17" name="a1500_22"/>
          <p:cNvSpPr/>
          <p:nvPr/>
        </p:nvSpPr>
        <p:spPr>
          <a:xfrm>
            <a:off x="8413750" y="2889250"/>
            <a:ext cx="1333500" cy="133350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8" name="a1500_23"/>
          <p:cNvSpPr txBox="1"/>
          <p:nvPr/>
        </p:nvSpPr>
        <p:spPr>
          <a:xfrm>
            <a:off x="8413750" y="2889250"/>
            <a:ext cx="1333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goal</a:t>
            </a:r>
            <a:endParaRPr lang="en-US" sz="2300" dirty="0"/>
          </a:p>
        </p:txBody>
      </p:sp>
      <p:sp>
        <p:nvSpPr>
          <p:cNvPr id="19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AN AI AGENT</a:t>
            </a:r>
            <a:endParaRPr lang="en-US" sz="900" dirty="0"/>
          </a:p>
        </p:txBody>
      </p:sp>
      <p:sp>
        <p:nvSpPr>
          <p:cNvPr id="20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1" name="progress"/>
          <p:cNvSpPr/>
          <p:nvPr/>
        </p:nvSpPr>
        <p:spPr>
          <a:xfrm>
            <a:off x="0" y="6832600"/>
            <a:ext cx="1741714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24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AI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A8A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Agent</a:t>
            </a:r>
            <a:endParaRPr lang="en-US" sz="4800" dirty="0"/>
          </a:p>
        </p:txBody>
      </p:sp>
      <p:sp>
        <p:nvSpPr>
          <p:cNvPr id="3" name="a200_25"/>
          <p:cNvSpPr/>
          <p:nvPr/>
        </p:nvSpPr>
        <p:spPr>
          <a:xfrm>
            <a:off x="914400" y="1841500"/>
            <a:ext cx="5283200" cy="35306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4" name="a350_26"/>
          <p:cNvSpPr/>
          <p:nvPr/>
        </p:nvSpPr>
        <p:spPr>
          <a:xfrm>
            <a:off x="5994400" y="1841500"/>
            <a:ext cx="5283200" cy="3530600"/>
          </a:xfrm>
          <a:prstGeom prst="roundRect">
            <a:avLst>
              <a:gd name="adj" fmla="val 4317"/>
            </a:avLst>
          </a:prstGeom>
          <a:solidFill>
            <a:srgbClr val="0A0A0A"/>
          </a:solidFill>
          <a:ln/>
        </p:spPr>
      </p:sp>
      <p:sp>
        <p:nvSpPr>
          <p:cNvPr id="5" name="a300_27"/>
          <p:cNvSpPr txBox="1"/>
          <p:nvPr/>
        </p:nvSpPr>
        <p:spPr>
          <a:xfrm>
            <a:off x="1320800" y="2222500"/>
            <a:ext cx="444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/ CHAT AI</a:t>
            </a:r>
            <a:endParaRPr lang="en-US" sz="1000" dirty="0"/>
          </a:p>
        </p:txBody>
      </p:sp>
      <p:sp>
        <p:nvSpPr>
          <p:cNvPr id="6" name="a300_28"/>
          <p:cNvSpPr txBox="1"/>
          <p:nvPr/>
        </p:nvSpPr>
        <p:spPr>
          <a:xfrm>
            <a:off x="1320800" y="24511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</a:t>
            </a:r>
            <a:endParaRPr lang="en-US" sz="2600" dirty="0"/>
          </a:p>
        </p:txBody>
      </p:sp>
      <p:sp>
        <p:nvSpPr>
          <p:cNvPr id="7" name="a300_29"/>
          <p:cNvSpPr txBox="1"/>
          <p:nvPr/>
        </p:nvSpPr>
        <p:spPr>
          <a:xfrm>
            <a:off x="1320800" y="2921000"/>
            <a:ext cx="457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· Claude · Gemini</a:t>
            </a:r>
            <a:endParaRPr lang="en-US" sz="1300" dirty="0"/>
          </a:p>
        </p:txBody>
      </p:sp>
      <p:sp>
        <p:nvSpPr>
          <p:cNvPr id="8" name="a500_30"/>
          <p:cNvSpPr/>
          <p:nvPr/>
        </p:nvSpPr>
        <p:spPr>
          <a:xfrm>
            <a:off x="1320800" y="3365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9" name="a500_31"/>
          <p:cNvSpPr txBox="1"/>
          <p:nvPr/>
        </p:nvSpPr>
        <p:spPr>
          <a:xfrm>
            <a:off x="1320800" y="358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a500_32"/>
          <p:cNvSpPr txBox="1"/>
          <p:nvPr/>
        </p:nvSpPr>
        <p:spPr>
          <a:xfrm>
            <a:off x="1778000" y="351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ask a question</a:t>
            </a:r>
            <a:endParaRPr lang="en-US" sz="1800" dirty="0"/>
          </a:p>
        </p:txBody>
      </p:sp>
      <p:sp>
        <p:nvSpPr>
          <p:cNvPr id="11" name="a700_33"/>
          <p:cNvSpPr/>
          <p:nvPr/>
        </p:nvSpPr>
        <p:spPr>
          <a:xfrm>
            <a:off x="1320800" y="4000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12" name="a700_34"/>
          <p:cNvSpPr txBox="1"/>
          <p:nvPr/>
        </p:nvSpPr>
        <p:spPr>
          <a:xfrm>
            <a:off x="1320800" y="4216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a700_35"/>
          <p:cNvSpPr txBox="1"/>
          <p:nvPr/>
        </p:nvSpPr>
        <p:spPr>
          <a:xfrm>
            <a:off x="1778000" y="4152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an answer</a:t>
            </a:r>
            <a:endParaRPr lang="en-US" sz="1800" dirty="0"/>
          </a:p>
        </p:txBody>
      </p:sp>
      <p:sp>
        <p:nvSpPr>
          <p:cNvPr id="14" name="a900_36"/>
          <p:cNvSpPr/>
          <p:nvPr/>
        </p:nvSpPr>
        <p:spPr>
          <a:xfrm>
            <a:off x="1320800" y="4635500"/>
            <a:ext cx="44704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15" name="a900_37"/>
          <p:cNvSpPr txBox="1"/>
          <p:nvPr/>
        </p:nvSpPr>
        <p:spPr>
          <a:xfrm>
            <a:off x="1320800" y="485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a900_38"/>
          <p:cNvSpPr txBox="1"/>
          <p:nvPr/>
        </p:nvSpPr>
        <p:spPr>
          <a:xfrm>
            <a:off x="1778000" y="478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and waits</a:t>
            </a:r>
            <a:endParaRPr lang="en-US" sz="1800" dirty="0"/>
          </a:p>
        </p:txBody>
      </p:sp>
      <p:sp>
        <p:nvSpPr>
          <p:cNvPr id="17" name="a450_39"/>
          <p:cNvSpPr txBox="1"/>
          <p:nvPr/>
        </p:nvSpPr>
        <p:spPr>
          <a:xfrm>
            <a:off x="6400800" y="2222500"/>
            <a:ext cx="444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</a:t>
            </a:r>
            <a:endParaRPr lang="en-US" sz="1000" dirty="0"/>
          </a:p>
        </p:txBody>
      </p:sp>
      <p:sp>
        <p:nvSpPr>
          <p:cNvPr id="18" name="a450_40"/>
          <p:cNvSpPr txBox="1"/>
          <p:nvPr/>
        </p:nvSpPr>
        <p:spPr>
          <a:xfrm>
            <a:off x="6400800" y="2451100"/>
            <a:ext cx="4572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 + hands + a schedule</a:t>
            </a:r>
            <a:endParaRPr lang="en-US" sz="2600" dirty="0"/>
          </a:p>
        </p:txBody>
      </p:sp>
      <p:sp>
        <p:nvSpPr>
          <p:cNvPr id="19" name="a450_41"/>
          <p:cNvSpPr txBox="1"/>
          <p:nvPr/>
        </p:nvSpPr>
        <p:spPr>
          <a:xfrm>
            <a:off x="6400800" y="2921000"/>
            <a:ext cx="457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Hermes · Claude Code · Codex</a:t>
            </a:r>
            <a:endParaRPr lang="en-US" sz="1300" dirty="0"/>
          </a:p>
        </p:txBody>
      </p:sp>
      <p:sp>
        <p:nvSpPr>
          <p:cNvPr id="20" name="a650_42"/>
          <p:cNvSpPr/>
          <p:nvPr/>
        </p:nvSpPr>
        <p:spPr>
          <a:xfrm>
            <a:off x="6400800" y="3365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1" name="a650_43"/>
          <p:cNvSpPr txBox="1"/>
          <p:nvPr/>
        </p:nvSpPr>
        <p:spPr>
          <a:xfrm>
            <a:off x="6400800" y="358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a650_44"/>
          <p:cNvSpPr txBox="1"/>
          <p:nvPr/>
        </p:nvSpPr>
        <p:spPr>
          <a:xfrm>
            <a:off x="6858000" y="351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give it a goal</a:t>
            </a:r>
            <a:endParaRPr lang="en-US" sz="1800" dirty="0"/>
          </a:p>
        </p:txBody>
      </p:sp>
      <p:sp>
        <p:nvSpPr>
          <p:cNvPr id="23" name="a850_45"/>
          <p:cNvSpPr/>
          <p:nvPr/>
        </p:nvSpPr>
        <p:spPr>
          <a:xfrm>
            <a:off x="6400800" y="4000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a850_46"/>
          <p:cNvSpPr txBox="1"/>
          <p:nvPr/>
        </p:nvSpPr>
        <p:spPr>
          <a:xfrm>
            <a:off x="6400800" y="4216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a850_47"/>
          <p:cNvSpPr txBox="1"/>
          <p:nvPr/>
        </p:nvSpPr>
        <p:spPr>
          <a:xfrm>
            <a:off x="6858000" y="4152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and does the work</a:t>
            </a:r>
            <a:endParaRPr lang="en-US" sz="1800" dirty="0"/>
          </a:p>
        </p:txBody>
      </p:sp>
      <p:sp>
        <p:nvSpPr>
          <p:cNvPr id="26" name="a1050_48"/>
          <p:cNvSpPr/>
          <p:nvPr/>
        </p:nvSpPr>
        <p:spPr>
          <a:xfrm>
            <a:off x="6400800" y="4635500"/>
            <a:ext cx="44704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7" name="a1050_49"/>
          <p:cNvSpPr txBox="1"/>
          <p:nvPr/>
        </p:nvSpPr>
        <p:spPr>
          <a:xfrm>
            <a:off x="6400800" y="48514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8" name="a1050_50"/>
          <p:cNvSpPr txBox="1"/>
          <p:nvPr/>
        </p:nvSpPr>
        <p:spPr>
          <a:xfrm>
            <a:off x="6858000" y="4787900"/>
            <a:ext cx="393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reports back when done</a:t>
            </a:r>
            <a:endParaRPr lang="en-US" sz="1800" dirty="0"/>
          </a:p>
        </p:txBody>
      </p:sp>
      <p:sp>
        <p:nvSpPr>
          <p:cNvPr id="29" name="a1300_51"/>
          <p:cNvSpPr txBox="1"/>
          <p:nvPr/>
        </p:nvSpPr>
        <p:spPr>
          <a:xfrm>
            <a:off x="914400" y="571500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brain.</a:t>
            </a:r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Agent</a:t>
            </a:r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pPr algn="l"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brain + hands + a schedule.</a:t>
            </a:r>
            <a:endParaRPr lang="en-US" sz="1900" dirty="0"/>
          </a:p>
        </p:txBody>
      </p:sp>
      <p:sp>
        <p:nvSpPr>
          <p:cNvPr id="30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AI VS AI AGENT</a:t>
            </a:r>
            <a:endParaRPr lang="en-US" sz="900" dirty="0"/>
          </a:p>
        </p:txBody>
      </p:sp>
      <p:sp>
        <p:nvSpPr>
          <p:cNvPr id="31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32" name="progress"/>
          <p:cNvSpPr/>
          <p:nvPr/>
        </p:nvSpPr>
        <p:spPr>
          <a:xfrm>
            <a:off x="0" y="6832600"/>
            <a:ext cx="2612571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52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can do</a:t>
            </a:r>
            <a:endParaRPr lang="en-US" sz="4800" dirty="0"/>
          </a:p>
        </p:txBody>
      </p:sp>
      <p:sp>
        <p:nvSpPr>
          <p:cNvPr id="3" name="a120_53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chat can’t</a:t>
            </a:r>
            <a:endParaRPr lang="en-US" sz="4992" dirty="0"/>
          </a:p>
        </p:txBody>
      </p:sp>
      <p:sp>
        <p:nvSpPr>
          <p:cNvPr id="4" name="a200_54"/>
          <p:cNvSpPr/>
          <p:nvPr/>
        </p:nvSpPr>
        <p:spPr>
          <a:xfrm>
            <a:off x="914400" y="2540000"/>
            <a:ext cx="10363200" cy="64"/>
          </a:xfrm>
          <a:prstGeom prst="line">
            <a:avLst/>
          </a:prstGeom>
          <a:noFill/>
          <a:ln w="12700">
            <a:solidFill>
              <a:srgbClr val="0A0A0A"/>
            </a:solidFill>
            <a:prstDash val="solid"/>
          </a:ln>
        </p:spPr>
      </p:sp>
      <p:sp>
        <p:nvSpPr>
          <p:cNvPr id="5" name="a300_55"/>
          <p:cNvSpPr/>
          <p:nvPr/>
        </p:nvSpPr>
        <p:spPr>
          <a:xfrm>
            <a:off x="914400" y="4356100"/>
            <a:ext cx="10363200" cy="64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6" name="a300_56"/>
          <p:cNvSpPr/>
          <p:nvPr/>
        </p:nvSpPr>
        <p:spPr>
          <a:xfrm>
            <a:off x="4368800" y="2540000"/>
            <a:ext cx="64" cy="3632200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sp>
        <p:nvSpPr>
          <p:cNvPr id="7" name="a300_57"/>
          <p:cNvSpPr/>
          <p:nvPr/>
        </p:nvSpPr>
        <p:spPr>
          <a:xfrm>
            <a:off x="7823200" y="2540000"/>
            <a:ext cx="64" cy="3632200"/>
          </a:xfrm>
          <a:prstGeom prst="line">
            <a:avLst/>
          </a:prstGeom>
          <a:noFill/>
          <a:ln w="12700">
            <a:solidFill>
              <a:srgbClr val="E3E3E3"/>
            </a:solidFill>
            <a:prstDash val="solid"/>
          </a:ln>
        </p:spPr>
      </p:sp>
      <p:pic>
        <p:nvPicPr>
          <p:cNvPr id="8" name="a350_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4000"/>
            <a:ext cx="355600" cy="355600"/>
          </a:xfrm>
          <a:prstGeom prst="rect">
            <a:avLst/>
          </a:prstGeom>
        </p:spPr>
      </p:pic>
      <p:sp>
        <p:nvSpPr>
          <p:cNvPr id="9" name="a350_59"/>
          <p:cNvSpPr txBox="1"/>
          <p:nvPr/>
        </p:nvSpPr>
        <p:spPr>
          <a:xfrm>
            <a:off x="9144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 schedule</a:t>
            </a:r>
            <a:endParaRPr lang="en-US" sz="2000" dirty="0"/>
          </a:p>
        </p:txBody>
      </p:sp>
      <p:sp>
        <p:nvSpPr>
          <p:cNvPr id="10" name="a350_60"/>
          <p:cNvSpPr txBox="1"/>
          <p:nvPr/>
        </p:nvSpPr>
        <p:spPr>
          <a:xfrm>
            <a:off x="9144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tasks at set times, without being asked</a:t>
            </a:r>
            <a:endParaRPr lang="en-US" sz="1400" dirty="0"/>
          </a:p>
        </p:txBody>
      </p:sp>
      <p:pic>
        <p:nvPicPr>
          <p:cNvPr id="11" name="a460_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00" y="2794000"/>
            <a:ext cx="355600" cy="355600"/>
          </a:xfrm>
          <a:prstGeom prst="rect">
            <a:avLst/>
          </a:prstGeom>
        </p:spPr>
      </p:pic>
      <p:sp>
        <p:nvSpPr>
          <p:cNvPr id="12" name="a460_62"/>
          <p:cNvSpPr txBox="1"/>
          <p:nvPr/>
        </p:nvSpPr>
        <p:spPr>
          <a:xfrm>
            <a:off x="46736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tools</a:t>
            </a:r>
            <a:endParaRPr lang="en-US" sz="2000" dirty="0"/>
          </a:p>
        </p:txBody>
      </p:sp>
      <p:sp>
        <p:nvSpPr>
          <p:cNvPr id="13" name="a460_63"/>
          <p:cNvSpPr txBox="1"/>
          <p:nvPr/>
        </p:nvSpPr>
        <p:spPr>
          <a:xfrm>
            <a:off x="46736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Browses the web, edits files, runs apps</a:t>
            </a:r>
            <a:endParaRPr lang="en-US" sz="1400" dirty="0"/>
          </a:p>
        </p:txBody>
      </p:sp>
      <p:pic>
        <p:nvPicPr>
          <p:cNvPr id="14" name="a570_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2794000"/>
            <a:ext cx="355600" cy="355600"/>
          </a:xfrm>
          <a:prstGeom prst="rect">
            <a:avLst/>
          </a:prstGeom>
        </p:spPr>
      </p:pic>
      <p:sp>
        <p:nvSpPr>
          <p:cNvPr id="15" name="a570_65"/>
          <p:cNvSpPr txBox="1"/>
          <p:nvPr/>
        </p:nvSpPr>
        <p:spPr>
          <a:xfrm>
            <a:off x="8128000" y="33274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Thinks in steps</a:t>
            </a:r>
            <a:endParaRPr lang="en-US" sz="2000" dirty="0"/>
          </a:p>
        </p:txBody>
      </p:sp>
      <p:sp>
        <p:nvSpPr>
          <p:cNvPr id="16" name="a570_66"/>
          <p:cNvSpPr txBox="1"/>
          <p:nvPr/>
        </p:nvSpPr>
        <p:spPr>
          <a:xfrm>
            <a:off x="8128000" y="37465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a goal into steps and decides what’s next</a:t>
            </a:r>
            <a:endParaRPr lang="en-US" sz="1400" dirty="0"/>
          </a:p>
        </p:txBody>
      </p:sp>
      <p:pic>
        <p:nvPicPr>
          <p:cNvPr id="17" name="a680_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0100"/>
            <a:ext cx="355600" cy="355600"/>
          </a:xfrm>
          <a:prstGeom prst="rect">
            <a:avLst/>
          </a:prstGeom>
        </p:spPr>
      </p:pic>
      <p:sp>
        <p:nvSpPr>
          <p:cNvPr id="18" name="a680_68"/>
          <p:cNvSpPr txBox="1"/>
          <p:nvPr/>
        </p:nvSpPr>
        <p:spPr>
          <a:xfrm>
            <a:off x="9144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 persona</a:t>
            </a:r>
            <a:endParaRPr lang="en-US" sz="2000" dirty="0"/>
          </a:p>
        </p:txBody>
      </p:sp>
      <p:sp>
        <p:nvSpPr>
          <p:cNvPr id="19" name="a680_69"/>
          <p:cNvSpPr txBox="1"/>
          <p:nvPr/>
        </p:nvSpPr>
        <p:spPr>
          <a:xfrm>
            <a:off x="9144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role, tone and set of rules</a:t>
            </a:r>
            <a:endParaRPr lang="en-US" sz="1400" dirty="0"/>
          </a:p>
        </p:txBody>
      </p:sp>
      <p:pic>
        <p:nvPicPr>
          <p:cNvPr id="20" name="a790_7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600" y="4610100"/>
            <a:ext cx="355600" cy="355600"/>
          </a:xfrm>
          <a:prstGeom prst="rect">
            <a:avLst/>
          </a:prstGeom>
        </p:spPr>
      </p:pic>
      <p:sp>
        <p:nvSpPr>
          <p:cNvPr id="21" name="a790_71"/>
          <p:cNvSpPr txBox="1"/>
          <p:nvPr/>
        </p:nvSpPr>
        <p:spPr>
          <a:xfrm>
            <a:off x="46736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skills</a:t>
            </a:r>
            <a:endParaRPr lang="en-US" sz="2000" dirty="0"/>
          </a:p>
        </p:txBody>
      </p:sp>
      <p:sp>
        <p:nvSpPr>
          <p:cNvPr id="22" name="a790_72"/>
          <p:cNvSpPr txBox="1"/>
          <p:nvPr/>
        </p:nvSpPr>
        <p:spPr>
          <a:xfrm>
            <a:off x="46736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new abilities, like apps on a phone</a:t>
            </a:r>
            <a:endParaRPr lang="en-US" sz="1400" dirty="0"/>
          </a:p>
        </p:txBody>
      </p:sp>
      <p:pic>
        <p:nvPicPr>
          <p:cNvPr id="23" name="a900_7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610100"/>
            <a:ext cx="355600" cy="355600"/>
          </a:xfrm>
          <a:prstGeom prst="rect">
            <a:avLst/>
          </a:prstGeom>
        </p:spPr>
      </p:pic>
      <p:sp>
        <p:nvSpPr>
          <p:cNvPr id="24" name="a900_74"/>
          <p:cNvSpPr txBox="1"/>
          <p:nvPr/>
        </p:nvSpPr>
        <p:spPr>
          <a:xfrm>
            <a:off x="8128000" y="5143500"/>
            <a:ext cx="304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 team</a:t>
            </a:r>
            <a:endParaRPr lang="en-US" sz="2000" dirty="0"/>
          </a:p>
        </p:txBody>
      </p:sp>
      <p:sp>
        <p:nvSpPr>
          <p:cNvPr id="25" name="a900_75"/>
          <p:cNvSpPr txBox="1"/>
          <p:nvPr/>
        </p:nvSpPr>
        <p:spPr>
          <a:xfrm>
            <a:off x="8128000" y="5562600"/>
            <a:ext cx="279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work to other agents in a workflow</a:t>
            </a:r>
            <a:endParaRPr lang="en-US" sz="1400" dirty="0"/>
          </a:p>
        </p:txBody>
      </p:sp>
      <p:sp>
        <p:nvSpPr>
          <p:cNvPr id="26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AGENTS CAN DO</a:t>
            </a:r>
            <a:endParaRPr lang="en-US" sz="900" dirty="0"/>
          </a:p>
        </p:txBody>
      </p:sp>
      <p:sp>
        <p:nvSpPr>
          <p:cNvPr id="27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8" name="progress"/>
          <p:cNvSpPr/>
          <p:nvPr/>
        </p:nvSpPr>
        <p:spPr>
          <a:xfrm>
            <a:off x="0" y="6832600"/>
            <a:ext cx="3483429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76"/>
          <p:cNvSpPr txBox="1"/>
          <p:nvPr/>
        </p:nvSpPr>
        <p:spPr>
          <a:xfrm>
            <a:off x="914400" y="698500"/>
            <a:ext cx="103632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every agent</a:t>
            </a:r>
            <a:endParaRPr lang="en-US" sz="4800" dirty="0"/>
          </a:p>
        </p:txBody>
      </p:sp>
      <p:sp>
        <p:nvSpPr>
          <p:cNvPr id="3" name="a120_77"/>
          <p:cNvSpPr txBox="1"/>
          <p:nvPr/>
        </p:nvSpPr>
        <p:spPr>
          <a:xfrm>
            <a:off x="914400" y="1320292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992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made of</a:t>
            </a:r>
            <a:endParaRPr lang="en-US" sz="4992" dirty="0"/>
          </a:p>
        </p:txBody>
      </p:sp>
      <p:sp>
        <p:nvSpPr>
          <p:cNvPr id="4" name="a200_78"/>
          <p:cNvSpPr/>
          <p:nvPr/>
        </p:nvSpPr>
        <p:spPr>
          <a:xfrm>
            <a:off x="914400" y="5156200"/>
            <a:ext cx="10363200" cy="1003300"/>
          </a:xfrm>
          <a:prstGeom prst="roundRect">
            <a:avLst>
              <a:gd name="adj" fmla="val 15190"/>
            </a:avLst>
          </a:prstGeom>
          <a:solidFill>
            <a:srgbClr val="0A0A0A"/>
          </a:solidFill>
          <a:ln/>
        </p:spPr>
      </p:sp>
      <p:pic>
        <p:nvPicPr>
          <p:cNvPr id="5" name="a300_7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00" y="5480050"/>
            <a:ext cx="355600" cy="355600"/>
          </a:xfrm>
          <a:prstGeom prst="rect">
            <a:avLst/>
          </a:prstGeom>
        </p:spPr>
      </p:pic>
      <p:sp>
        <p:nvSpPr>
          <p:cNvPr id="6" name="a300_80"/>
          <p:cNvSpPr txBox="1"/>
          <p:nvPr/>
        </p:nvSpPr>
        <p:spPr>
          <a:xfrm>
            <a:off x="1752600" y="5448300"/>
            <a:ext cx="152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2800" dirty="0"/>
          </a:p>
        </p:txBody>
      </p:sp>
      <p:sp>
        <p:nvSpPr>
          <p:cNvPr id="7" name="a300_81"/>
          <p:cNvSpPr txBox="1"/>
          <p:nvPr/>
        </p:nvSpPr>
        <p:spPr>
          <a:xfrm>
            <a:off x="3022600" y="56007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 UNDERNEATH</a:t>
            </a:r>
            <a:endParaRPr lang="en-US" sz="950" dirty="0"/>
          </a:p>
        </p:txBody>
      </p:sp>
      <p:sp>
        <p:nvSpPr>
          <p:cNvPr id="8" name="a400_82"/>
          <p:cNvSpPr txBox="1"/>
          <p:nvPr/>
        </p:nvSpPr>
        <p:spPr>
          <a:xfrm>
            <a:off x="5080000" y="5397500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 per job: </a:t>
            </a:r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small, fast model</a:t>
            </a:r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simple tasks, </a:t>
            </a:r>
            <a:pPr algn="l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stronger one</a:t>
            </a:r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judgment and creative work.</a:t>
            </a:r>
            <a:endParaRPr lang="en-US" sz="1400" dirty="0"/>
          </a:p>
        </p:txBody>
      </p:sp>
      <p:sp>
        <p:nvSpPr>
          <p:cNvPr id="9" name="a650_83"/>
          <p:cNvSpPr/>
          <p:nvPr/>
        </p:nvSpPr>
        <p:spPr>
          <a:xfrm>
            <a:off x="91440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10" name="a650_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755900"/>
            <a:ext cx="355600" cy="355600"/>
          </a:xfrm>
          <a:prstGeom prst="rect">
            <a:avLst/>
          </a:prstGeom>
        </p:spPr>
      </p:pic>
      <p:sp>
        <p:nvSpPr>
          <p:cNvPr id="11" name="a650_85"/>
          <p:cNvSpPr txBox="1"/>
          <p:nvPr/>
        </p:nvSpPr>
        <p:spPr>
          <a:xfrm>
            <a:off x="218440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IS</a:t>
            </a:r>
            <a:endParaRPr lang="en-US" sz="1000" dirty="0"/>
          </a:p>
        </p:txBody>
      </p:sp>
      <p:sp>
        <p:nvSpPr>
          <p:cNvPr id="12" name="a650_86"/>
          <p:cNvSpPr txBox="1"/>
          <p:nvPr/>
        </p:nvSpPr>
        <p:spPr>
          <a:xfrm>
            <a:off x="121920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Soul</a:t>
            </a:r>
            <a:endParaRPr lang="en-US" sz="2800" dirty="0"/>
          </a:p>
        </p:txBody>
      </p:sp>
      <p:sp>
        <p:nvSpPr>
          <p:cNvPr id="13" name="a650_87"/>
          <p:cNvSpPr txBox="1"/>
          <p:nvPr/>
        </p:nvSpPr>
        <p:spPr>
          <a:xfrm>
            <a:off x="121920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Personality, role and rules, written in one file</a:t>
            </a:r>
            <a:endParaRPr lang="en-US" sz="1400" dirty="0"/>
          </a:p>
        </p:txBody>
      </p:sp>
      <p:sp>
        <p:nvSpPr>
          <p:cNvPr id="14" name="a790_88"/>
          <p:cNvSpPr/>
          <p:nvPr/>
        </p:nvSpPr>
        <p:spPr>
          <a:xfrm>
            <a:off x="441325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15" name="a790_8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050" y="2755900"/>
            <a:ext cx="355600" cy="355600"/>
          </a:xfrm>
          <a:prstGeom prst="rect">
            <a:avLst/>
          </a:prstGeom>
        </p:spPr>
      </p:pic>
      <p:sp>
        <p:nvSpPr>
          <p:cNvPr id="16" name="a790_90"/>
          <p:cNvSpPr txBox="1"/>
          <p:nvPr/>
        </p:nvSpPr>
        <p:spPr>
          <a:xfrm>
            <a:off x="568325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CAN DO</a:t>
            </a:r>
            <a:endParaRPr lang="en-US" sz="1000" dirty="0"/>
          </a:p>
        </p:txBody>
      </p:sp>
      <p:sp>
        <p:nvSpPr>
          <p:cNvPr id="17" name="a790_91"/>
          <p:cNvSpPr txBox="1"/>
          <p:nvPr/>
        </p:nvSpPr>
        <p:spPr>
          <a:xfrm>
            <a:off x="471805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800" dirty="0"/>
          </a:p>
        </p:txBody>
      </p:sp>
      <p:sp>
        <p:nvSpPr>
          <p:cNvPr id="18" name="a790_92"/>
          <p:cNvSpPr txBox="1"/>
          <p:nvPr/>
        </p:nvSpPr>
        <p:spPr>
          <a:xfrm>
            <a:off x="471805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playbooks and tools it can use</a:t>
            </a:r>
            <a:endParaRPr lang="en-US" sz="1400" dirty="0"/>
          </a:p>
        </p:txBody>
      </p:sp>
      <p:sp>
        <p:nvSpPr>
          <p:cNvPr id="19" name="a930_93"/>
          <p:cNvSpPr/>
          <p:nvPr/>
        </p:nvSpPr>
        <p:spPr>
          <a:xfrm>
            <a:off x="7912100" y="2476500"/>
            <a:ext cx="33655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</p:sp>
      <p:pic>
        <p:nvPicPr>
          <p:cNvPr id="20" name="a930_9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900" y="2755900"/>
            <a:ext cx="355600" cy="355600"/>
          </a:xfrm>
          <a:prstGeom prst="rect">
            <a:avLst/>
          </a:prstGeom>
        </p:spPr>
      </p:pic>
      <p:sp>
        <p:nvSpPr>
          <p:cNvPr id="21" name="a930_95"/>
          <p:cNvSpPr txBox="1"/>
          <p:nvPr/>
        </p:nvSpPr>
        <p:spPr>
          <a:xfrm>
            <a:off x="9182100" y="2832100"/>
            <a:ext cx="179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REMEMBERS</a:t>
            </a:r>
            <a:endParaRPr lang="en-US" sz="1000" dirty="0"/>
          </a:p>
        </p:txBody>
      </p:sp>
      <p:sp>
        <p:nvSpPr>
          <p:cNvPr id="22" name="a930_96"/>
          <p:cNvSpPr txBox="1"/>
          <p:nvPr/>
        </p:nvSpPr>
        <p:spPr>
          <a:xfrm>
            <a:off x="8216900" y="3721100"/>
            <a:ext cx="2755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2800" dirty="0"/>
          </a:p>
        </p:txBody>
      </p:sp>
      <p:sp>
        <p:nvSpPr>
          <p:cNvPr id="23" name="a930_97"/>
          <p:cNvSpPr txBox="1"/>
          <p:nvPr/>
        </p:nvSpPr>
        <p:spPr>
          <a:xfrm>
            <a:off x="8216900" y="4292600"/>
            <a:ext cx="275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about you, your work and past tasks</a:t>
            </a:r>
            <a:endParaRPr lang="en-US" sz="1400" dirty="0"/>
          </a:p>
        </p:txBody>
      </p:sp>
      <p:sp>
        <p:nvSpPr>
          <p:cNvPr id="24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BUILDING BLOCKS</a:t>
            </a:r>
            <a:endParaRPr lang="en-US" sz="900" dirty="0"/>
          </a:p>
        </p:txBody>
      </p:sp>
      <p:sp>
        <p:nvSpPr>
          <p:cNvPr id="25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6" name="progress"/>
          <p:cNvSpPr/>
          <p:nvPr/>
        </p:nvSpPr>
        <p:spPr>
          <a:xfrm>
            <a:off x="0" y="6832600"/>
            <a:ext cx="4354286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98"/>
          <p:cNvSpPr txBox="1"/>
          <p:nvPr/>
        </p:nvSpPr>
        <p:spPr>
          <a:xfrm>
            <a:off x="914400" y="1905000"/>
            <a:ext cx="571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400" spc="-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own</a:t>
            </a:r>
            <a:endParaRPr lang="en-US" sz="6400" dirty="0"/>
          </a:p>
        </p:txBody>
      </p:sp>
      <p:sp>
        <p:nvSpPr>
          <p:cNvPr id="3" name="a150_99"/>
          <p:cNvSpPr txBox="1"/>
          <p:nvPr/>
        </p:nvSpPr>
        <p:spPr>
          <a:xfrm>
            <a:off x="914400" y="2730500"/>
            <a:ext cx="571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6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team</a:t>
            </a:r>
            <a:endParaRPr lang="en-US" sz="6800" dirty="0"/>
          </a:p>
        </p:txBody>
      </p:sp>
      <p:sp>
        <p:nvSpPr>
          <p:cNvPr id="4" name="a500_100"/>
          <p:cNvSpPr txBox="1"/>
          <p:nvPr/>
        </p:nvSpPr>
        <p:spPr>
          <a:xfrm>
            <a:off x="914400" y="4064000"/>
            <a:ext cx="5207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agents</a:t>
            </a:r>
            <a:pPr algn="l"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running 24/7 on one small server. I manage them from Discord.</a:t>
            </a:r>
            <a:endParaRPr lang="en-US" sz="2200" dirty="0"/>
          </a:p>
        </p:txBody>
      </p:sp>
      <p:sp>
        <p:nvSpPr>
          <p:cNvPr id="5" name="a250_101"/>
          <p:cNvSpPr txBox="1"/>
          <p:nvPr/>
        </p:nvSpPr>
        <p:spPr>
          <a:xfrm>
            <a:off x="7239000" y="254000"/>
            <a:ext cx="4318000" cy="60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0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50000" dirty="0"/>
          </a:p>
        </p:txBody>
      </p:sp>
      <p:sp>
        <p:nvSpPr>
          <p:cNvPr id="6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AM BUILDING</a:t>
            </a:r>
            <a:endParaRPr lang="en-US" sz="900" dirty="0"/>
          </a:p>
        </p:txBody>
      </p:sp>
      <p:sp>
        <p:nvSpPr>
          <p:cNvPr id="7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8" name="progress"/>
          <p:cNvSpPr/>
          <p:nvPr/>
        </p:nvSpPr>
        <p:spPr>
          <a:xfrm>
            <a:off x="0" y="6832600"/>
            <a:ext cx="5225143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102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my team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structured</a:t>
            </a:r>
            <a:endParaRPr lang="en-US" sz="4800" dirty="0"/>
          </a:p>
        </p:txBody>
      </p:sp>
      <p:sp>
        <p:nvSpPr>
          <p:cNvPr id="3" name="a100_103"/>
          <p:cNvSpPr/>
          <p:nvPr/>
        </p:nvSpPr>
        <p:spPr>
          <a:xfrm>
            <a:off x="5746750" y="1701800"/>
            <a:ext cx="698500" cy="39370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4" name="a100_104"/>
          <p:cNvSpPr txBox="1"/>
          <p:nvPr/>
        </p:nvSpPr>
        <p:spPr>
          <a:xfrm>
            <a:off x="5746750" y="1701800"/>
            <a:ext cx="6985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400" dirty="0"/>
          </a:p>
        </p:txBody>
      </p:sp>
      <p:sp>
        <p:nvSpPr>
          <p:cNvPr id="5" name="a300_105"/>
          <p:cNvSpPr/>
          <p:nvPr/>
        </p:nvSpPr>
        <p:spPr>
          <a:xfrm>
            <a:off x="6096000" y="2095500"/>
            <a:ext cx="64" cy="3429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6" name="a300_106"/>
          <p:cNvSpPr/>
          <p:nvPr/>
        </p:nvSpPr>
        <p:spPr>
          <a:xfrm>
            <a:off x="5359400" y="2438400"/>
            <a:ext cx="1473200" cy="609600"/>
          </a:xfrm>
          <a:prstGeom prst="roundRect">
            <a:avLst>
              <a:gd name="adj" fmla="val 20833"/>
            </a:avLst>
          </a:prstGeom>
          <a:solidFill>
            <a:srgbClr val="0A0A0A"/>
          </a:solidFill>
          <a:ln/>
        </p:spPr>
      </p:sp>
      <p:sp>
        <p:nvSpPr>
          <p:cNvPr id="7" name="a300_107"/>
          <p:cNvSpPr txBox="1"/>
          <p:nvPr/>
        </p:nvSpPr>
        <p:spPr>
          <a:xfrm>
            <a:off x="5359400" y="2438400"/>
            <a:ext cx="1473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2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b="1" spc="10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RUDI</a:t>
            </a:r>
            <a:endParaRPr lang="en-US" sz="2000" dirty="0"/>
          </a:p>
        </p:txBody>
      </p:sp>
      <p:sp>
        <p:nvSpPr>
          <p:cNvPr id="8" name="a600_108"/>
          <p:cNvSpPr txBox="1"/>
          <p:nvPr/>
        </p:nvSpPr>
        <p:spPr>
          <a:xfrm>
            <a:off x="2984500" y="2654300"/>
            <a:ext cx="222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Receives my tasks,</a:t>
            </a:r>
            <a:endParaRPr lang="en-US" sz="1100" dirty="0"/>
          </a:p>
        </p:txBody>
      </p:sp>
      <p:sp>
        <p:nvSpPr>
          <p:cNvPr id="9" name="a600_109"/>
          <p:cNvSpPr txBox="1"/>
          <p:nvPr/>
        </p:nvSpPr>
        <p:spPr>
          <a:xfrm>
            <a:off x="6985000" y="2654300"/>
            <a:ext cx="2222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delegates, reports back</a:t>
            </a:r>
            <a:endParaRPr lang="en-US" sz="1100" dirty="0"/>
          </a:p>
        </p:txBody>
      </p:sp>
      <p:sp>
        <p:nvSpPr>
          <p:cNvPr id="10" name="a650_110"/>
          <p:cNvSpPr/>
          <p:nvPr/>
        </p:nvSpPr>
        <p:spPr>
          <a:xfrm>
            <a:off x="6096000" y="3048000"/>
            <a:ext cx="64" cy="7620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1" name="a750_111"/>
          <p:cNvSpPr/>
          <p:nvPr/>
        </p:nvSpPr>
        <p:spPr>
          <a:xfrm>
            <a:off x="1143000" y="3810000"/>
            <a:ext cx="8969829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2" name="a850_112"/>
          <p:cNvSpPr/>
          <p:nvPr/>
        </p:nvSpPr>
        <p:spPr>
          <a:xfrm>
            <a:off x="1143000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3" name="a1270_113"/>
          <p:cNvSpPr/>
          <p:nvPr/>
        </p:nvSpPr>
        <p:spPr>
          <a:xfrm>
            <a:off x="914400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4" name="a1270_1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00" y="4597400"/>
            <a:ext cx="203200" cy="203200"/>
          </a:xfrm>
          <a:prstGeom prst="rect">
            <a:avLst/>
          </a:prstGeom>
        </p:spPr>
      </p:pic>
      <p:sp>
        <p:nvSpPr>
          <p:cNvPr id="15" name="a1270_115"/>
          <p:cNvSpPr txBox="1"/>
          <p:nvPr/>
        </p:nvSpPr>
        <p:spPr>
          <a:xfrm>
            <a:off x="914400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</a:t>
            </a:r>
            <a:endParaRPr lang="en-US" sz="1400" dirty="0"/>
          </a:p>
        </p:txBody>
      </p:sp>
      <p:sp>
        <p:nvSpPr>
          <p:cNvPr id="16" name="a1270_116"/>
          <p:cNvSpPr txBox="1"/>
          <p:nvPr/>
        </p:nvSpPr>
        <p:spPr>
          <a:xfrm>
            <a:off x="914400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Edward</a:t>
            </a:r>
            <a:endParaRPr lang="en-US" sz="1300" dirty="0"/>
          </a:p>
        </p:txBody>
      </p:sp>
      <p:sp>
        <p:nvSpPr>
          <p:cNvPr id="17" name="a1270_117"/>
          <p:cNvSpPr txBox="1"/>
          <p:nvPr/>
        </p:nvSpPr>
        <p:spPr>
          <a:xfrm>
            <a:off x="914400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news and markets</a:t>
            </a:r>
            <a:endParaRPr lang="en-US" sz="1050" dirty="0"/>
          </a:p>
        </p:txBody>
      </p:sp>
      <p:sp>
        <p:nvSpPr>
          <p:cNvPr id="18" name="a850_118"/>
          <p:cNvSpPr/>
          <p:nvPr/>
        </p:nvSpPr>
        <p:spPr>
          <a:xfrm>
            <a:off x="2637971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9" name="a1180_119"/>
          <p:cNvSpPr/>
          <p:nvPr/>
        </p:nvSpPr>
        <p:spPr>
          <a:xfrm>
            <a:off x="2409371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0" name="a1180_12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371" y="4597400"/>
            <a:ext cx="203200" cy="203200"/>
          </a:xfrm>
          <a:prstGeom prst="rect">
            <a:avLst/>
          </a:prstGeom>
        </p:spPr>
      </p:pic>
      <p:sp>
        <p:nvSpPr>
          <p:cNvPr id="21" name="a1180_121"/>
          <p:cNvSpPr txBox="1"/>
          <p:nvPr/>
        </p:nvSpPr>
        <p:spPr>
          <a:xfrm>
            <a:off x="2409371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400" dirty="0"/>
          </a:p>
        </p:txBody>
      </p:sp>
      <p:sp>
        <p:nvSpPr>
          <p:cNvPr id="22" name="a1180_122"/>
          <p:cNvSpPr txBox="1"/>
          <p:nvPr/>
        </p:nvSpPr>
        <p:spPr>
          <a:xfrm>
            <a:off x="2409371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Leonardo</a:t>
            </a:r>
            <a:endParaRPr lang="en-US" sz="1300" dirty="0"/>
          </a:p>
        </p:txBody>
      </p:sp>
      <p:sp>
        <p:nvSpPr>
          <p:cNvPr id="23" name="a1180_123"/>
          <p:cNvSpPr txBox="1"/>
          <p:nvPr/>
        </p:nvSpPr>
        <p:spPr>
          <a:xfrm>
            <a:off x="2409371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Visuals and UI/UX</a:t>
            </a:r>
            <a:endParaRPr lang="en-US" sz="1050" dirty="0"/>
          </a:p>
        </p:txBody>
      </p:sp>
      <p:sp>
        <p:nvSpPr>
          <p:cNvPr id="24" name="a850_124"/>
          <p:cNvSpPr/>
          <p:nvPr/>
        </p:nvSpPr>
        <p:spPr>
          <a:xfrm>
            <a:off x="4132943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5" name="a1090_125"/>
          <p:cNvSpPr/>
          <p:nvPr/>
        </p:nvSpPr>
        <p:spPr>
          <a:xfrm>
            <a:off x="3904343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6" name="a1090_1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343" y="4597400"/>
            <a:ext cx="203200" cy="203200"/>
          </a:xfrm>
          <a:prstGeom prst="rect">
            <a:avLst/>
          </a:prstGeom>
        </p:spPr>
      </p:pic>
      <p:sp>
        <p:nvSpPr>
          <p:cNvPr id="27" name="a1090_127"/>
          <p:cNvSpPr txBox="1"/>
          <p:nvPr/>
        </p:nvSpPr>
        <p:spPr>
          <a:xfrm>
            <a:off x="3904343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</a:t>
            </a:r>
            <a:endParaRPr lang="en-US" sz="1400" dirty="0"/>
          </a:p>
        </p:txBody>
      </p:sp>
      <p:sp>
        <p:nvSpPr>
          <p:cNvPr id="28" name="a1090_128"/>
          <p:cNvSpPr txBox="1"/>
          <p:nvPr/>
        </p:nvSpPr>
        <p:spPr>
          <a:xfrm>
            <a:off x="3904343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Astra</a:t>
            </a:r>
            <a:endParaRPr lang="en-US" sz="1300" dirty="0"/>
          </a:p>
        </p:txBody>
      </p:sp>
      <p:sp>
        <p:nvSpPr>
          <p:cNvPr id="29" name="a1090_129"/>
          <p:cNvSpPr txBox="1"/>
          <p:nvPr/>
        </p:nvSpPr>
        <p:spPr>
          <a:xfrm>
            <a:off x="3904343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and fixes the system</a:t>
            </a:r>
            <a:endParaRPr lang="en-US" sz="1050" dirty="0"/>
          </a:p>
        </p:txBody>
      </p:sp>
      <p:sp>
        <p:nvSpPr>
          <p:cNvPr id="30" name="a850_130"/>
          <p:cNvSpPr/>
          <p:nvPr/>
        </p:nvSpPr>
        <p:spPr>
          <a:xfrm>
            <a:off x="5627914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1" name="a1000_131"/>
          <p:cNvSpPr/>
          <p:nvPr/>
        </p:nvSpPr>
        <p:spPr>
          <a:xfrm>
            <a:off x="5399314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2" name="a1000_13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314" y="4597400"/>
            <a:ext cx="203200" cy="203200"/>
          </a:xfrm>
          <a:prstGeom prst="rect">
            <a:avLst/>
          </a:prstGeom>
        </p:spPr>
      </p:pic>
      <p:sp>
        <p:nvSpPr>
          <p:cNvPr id="33" name="a1000_133"/>
          <p:cNvSpPr txBox="1"/>
          <p:nvPr/>
        </p:nvSpPr>
        <p:spPr>
          <a:xfrm>
            <a:off x="5399314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analyst</a:t>
            </a:r>
            <a:endParaRPr lang="en-US" sz="1400" dirty="0"/>
          </a:p>
        </p:txBody>
      </p:sp>
      <p:sp>
        <p:nvSpPr>
          <p:cNvPr id="34" name="a1000_134"/>
          <p:cNvSpPr txBox="1"/>
          <p:nvPr/>
        </p:nvSpPr>
        <p:spPr>
          <a:xfrm>
            <a:off x="5399314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Kimi</a:t>
            </a:r>
            <a:endParaRPr lang="en-US" sz="1300" dirty="0"/>
          </a:p>
        </p:txBody>
      </p:sp>
      <p:sp>
        <p:nvSpPr>
          <p:cNvPr id="35" name="a1000_135"/>
          <p:cNvSpPr txBox="1"/>
          <p:nvPr/>
        </p:nvSpPr>
        <p:spPr>
          <a:xfrm>
            <a:off x="5399314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my trading journal</a:t>
            </a:r>
            <a:endParaRPr lang="en-US" sz="1050" dirty="0"/>
          </a:p>
        </p:txBody>
      </p:sp>
      <p:sp>
        <p:nvSpPr>
          <p:cNvPr id="36" name="a850_136"/>
          <p:cNvSpPr/>
          <p:nvPr/>
        </p:nvSpPr>
        <p:spPr>
          <a:xfrm>
            <a:off x="7122886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7" name="a1090_137"/>
          <p:cNvSpPr/>
          <p:nvPr/>
        </p:nvSpPr>
        <p:spPr>
          <a:xfrm>
            <a:off x="6894286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8" name="a1090_13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1286" y="4597400"/>
            <a:ext cx="203200" cy="203200"/>
          </a:xfrm>
          <a:prstGeom prst="rect">
            <a:avLst/>
          </a:prstGeom>
        </p:spPr>
      </p:pic>
      <p:sp>
        <p:nvSpPr>
          <p:cNvPr id="39" name="a1090_139"/>
          <p:cNvSpPr txBox="1"/>
          <p:nvPr/>
        </p:nvSpPr>
        <p:spPr>
          <a:xfrm>
            <a:off x="6894286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coach</a:t>
            </a:r>
            <a:endParaRPr lang="en-US" sz="1400" dirty="0"/>
          </a:p>
        </p:txBody>
      </p:sp>
      <p:sp>
        <p:nvSpPr>
          <p:cNvPr id="40" name="a1090_140"/>
          <p:cNvSpPr txBox="1"/>
          <p:nvPr/>
        </p:nvSpPr>
        <p:spPr>
          <a:xfrm>
            <a:off x="6894286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Alexa</a:t>
            </a:r>
            <a:endParaRPr lang="en-US" sz="1300" dirty="0"/>
          </a:p>
        </p:txBody>
      </p:sp>
      <p:sp>
        <p:nvSpPr>
          <p:cNvPr id="41" name="a1090_141"/>
          <p:cNvSpPr txBox="1"/>
          <p:nvPr/>
        </p:nvSpPr>
        <p:spPr>
          <a:xfrm>
            <a:off x="6894286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 and nutrition check-ins</a:t>
            </a:r>
            <a:endParaRPr lang="en-US" sz="1050" dirty="0"/>
          </a:p>
        </p:txBody>
      </p:sp>
      <p:sp>
        <p:nvSpPr>
          <p:cNvPr id="42" name="a850_142"/>
          <p:cNvSpPr/>
          <p:nvPr/>
        </p:nvSpPr>
        <p:spPr>
          <a:xfrm>
            <a:off x="8617857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3" name="a1180_143"/>
          <p:cNvSpPr/>
          <p:nvPr/>
        </p:nvSpPr>
        <p:spPr>
          <a:xfrm>
            <a:off x="8389257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44" name="a1180_1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6257" y="4597400"/>
            <a:ext cx="203200" cy="203200"/>
          </a:xfrm>
          <a:prstGeom prst="rect">
            <a:avLst/>
          </a:prstGeom>
        </p:spPr>
      </p:pic>
      <p:sp>
        <p:nvSpPr>
          <p:cNvPr id="45" name="a1180_145"/>
          <p:cNvSpPr txBox="1"/>
          <p:nvPr/>
        </p:nvSpPr>
        <p:spPr>
          <a:xfrm>
            <a:off x="8389257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46" name="a1180_146"/>
          <p:cNvSpPr txBox="1"/>
          <p:nvPr/>
        </p:nvSpPr>
        <p:spPr>
          <a:xfrm>
            <a:off x="8389257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Biti</a:t>
            </a:r>
            <a:endParaRPr lang="en-US" sz="1300" dirty="0"/>
          </a:p>
        </p:txBody>
      </p:sp>
      <p:sp>
        <p:nvSpPr>
          <p:cNvPr id="47" name="a1180_147"/>
          <p:cNvSpPr txBox="1"/>
          <p:nvPr/>
        </p:nvSpPr>
        <p:spPr>
          <a:xfrm>
            <a:off x="8389257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and captions</a:t>
            </a:r>
            <a:endParaRPr lang="en-US" sz="1050" dirty="0"/>
          </a:p>
        </p:txBody>
      </p:sp>
      <p:sp>
        <p:nvSpPr>
          <p:cNvPr id="48" name="a850_148"/>
          <p:cNvSpPr/>
          <p:nvPr/>
        </p:nvSpPr>
        <p:spPr>
          <a:xfrm>
            <a:off x="10112829" y="3810000"/>
            <a:ext cx="64" cy="6604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9" name="a1270_149"/>
          <p:cNvSpPr/>
          <p:nvPr/>
        </p:nvSpPr>
        <p:spPr>
          <a:xfrm>
            <a:off x="9884229" y="44704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50" name="a1270_15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1229" y="4597400"/>
            <a:ext cx="203200" cy="203200"/>
          </a:xfrm>
          <a:prstGeom prst="rect">
            <a:avLst/>
          </a:prstGeom>
        </p:spPr>
      </p:pic>
      <p:sp>
        <p:nvSpPr>
          <p:cNvPr id="51" name="a1270_151"/>
          <p:cNvSpPr txBox="1"/>
          <p:nvPr/>
        </p:nvSpPr>
        <p:spPr>
          <a:xfrm>
            <a:off x="9884229" y="5080000"/>
            <a:ext cx="139337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planner</a:t>
            </a:r>
            <a:endParaRPr lang="en-US" sz="1400" dirty="0"/>
          </a:p>
        </p:txBody>
      </p:sp>
      <p:sp>
        <p:nvSpPr>
          <p:cNvPr id="52" name="a1270_152"/>
          <p:cNvSpPr txBox="1"/>
          <p:nvPr/>
        </p:nvSpPr>
        <p:spPr>
          <a:xfrm>
            <a:off x="9884229" y="5321300"/>
            <a:ext cx="13933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Qunce</a:t>
            </a:r>
            <a:endParaRPr lang="en-US" sz="1300" dirty="0"/>
          </a:p>
        </p:txBody>
      </p:sp>
      <p:sp>
        <p:nvSpPr>
          <p:cNvPr id="53" name="a1270_153"/>
          <p:cNvSpPr txBox="1"/>
          <p:nvPr/>
        </p:nvSpPr>
        <p:spPr>
          <a:xfrm>
            <a:off x="9884229" y="5588000"/>
            <a:ext cx="1342571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Trips and itineraries</a:t>
            </a:r>
            <a:endParaRPr lang="en-US" sz="1050" dirty="0"/>
          </a:p>
        </p:txBody>
      </p:sp>
      <p:sp>
        <p:nvSpPr>
          <p:cNvPr id="54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AI TEAM</a:t>
            </a:r>
            <a:endParaRPr lang="en-US" sz="900" dirty="0"/>
          </a:p>
        </p:txBody>
      </p:sp>
      <p:sp>
        <p:nvSpPr>
          <p:cNvPr id="55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56" name="progress"/>
          <p:cNvSpPr/>
          <p:nvPr/>
        </p:nvSpPr>
        <p:spPr>
          <a:xfrm>
            <a:off x="0" y="6832600"/>
            <a:ext cx="6096000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1" grpId="0" animBg="1"/>
      <p:bldP spid="52" grpId="0" animBg="1"/>
      <p:bldP spid="5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154"/>
          <p:cNvSpPr txBox="1"/>
          <p:nvPr/>
        </p:nvSpPr>
        <p:spPr>
          <a:xfrm>
            <a:off x="914400" y="1397000"/>
            <a:ext cx="36830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0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office,</a:t>
            </a:r>
            <a:endParaRPr lang="en-US" sz="5000" dirty="0"/>
          </a:p>
        </p:txBody>
      </p:sp>
      <p:sp>
        <p:nvSpPr>
          <p:cNvPr id="3" name="a120_155"/>
          <p:cNvSpPr txBox="1"/>
          <p:nvPr/>
        </p:nvSpPr>
        <p:spPr>
          <a:xfrm>
            <a:off x="914400" y="2044700"/>
            <a:ext cx="3683000" cy="79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5200" dirty="0"/>
          </a:p>
        </p:txBody>
      </p:sp>
      <p:sp>
        <p:nvSpPr>
          <p:cNvPr id="4" name="a300_156"/>
          <p:cNvSpPr txBox="1"/>
          <p:nvPr/>
        </p:nvSpPr>
        <p:spPr>
          <a:xfrm>
            <a:off x="914400" y="2984500"/>
            <a:ext cx="355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dashboard built by my engineer agent. Every agent has a desk, so I can see at a glance </a:t>
            </a:r>
            <a:pPr algn="l" indent="0" marL="0">
              <a:lnSpc>
                <a:spcPct val="142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working</a:t>
            </a:r>
            <a:pPr algn="l" indent="0" marL="0">
              <a:lnSpc>
                <a:spcPct val="142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who is on standby.</a:t>
            </a:r>
            <a:endParaRPr lang="en-US" sz="1500" dirty="0"/>
          </a:p>
        </p:txBody>
      </p:sp>
      <p:sp>
        <p:nvSpPr>
          <p:cNvPr id="5" name="a500_157"/>
          <p:cNvSpPr/>
          <p:nvPr/>
        </p:nvSpPr>
        <p:spPr>
          <a:xfrm>
            <a:off x="914400" y="4686300"/>
            <a:ext cx="88900" cy="8890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6" name="a500_158"/>
          <p:cNvSpPr txBox="1"/>
          <p:nvPr/>
        </p:nvSpPr>
        <p:spPr>
          <a:xfrm>
            <a:off x="1143000" y="46228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300" dirty="0"/>
          </a:p>
        </p:txBody>
      </p:sp>
      <p:sp>
        <p:nvSpPr>
          <p:cNvPr id="7" name="a580_159"/>
          <p:cNvSpPr/>
          <p:nvPr/>
        </p:nvSpPr>
        <p:spPr>
          <a:xfrm>
            <a:off x="914400" y="5016500"/>
            <a:ext cx="88900" cy="88900"/>
          </a:xfrm>
          <a:prstGeom prst="ellipse">
            <a:avLst/>
          </a:prstGeom>
          <a:solidFill>
            <a:srgbClr val="A8A8A8"/>
          </a:solidFill>
          <a:ln/>
        </p:spPr>
      </p:sp>
      <p:sp>
        <p:nvSpPr>
          <p:cNvPr id="8" name="a580_160"/>
          <p:cNvSpPr txBox="1"/>
          <p:nvPr/>
        </p:nvSpPr>
        <p:spPr>
          <a:xfrm>
            <a:off x="1143000" y="49530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300" dirty="0"/>
          </a:p>
        </p:txBody>
      </p:sp>
      <p:sp>
        <p:nvSpPr>
          <p:cNvPr id="9" name="a660_161"/>
          <p:cNvSpPr/>
          <p:nvPr/>
        </p:nvSpPr>
        <p:spPr>
          <a:xfrm>
            <a:off x="914400" y="5346700"/>
            <a:ext cx="88900" cy="88900"/>
          </a:xfrm>
          <a:prstGeom prst="ellipse">
            <a:avLst/>
          </a:prstGeom>
          <a:ln w="19050">
            <a:solidFill>
              <a:srgbClr val="A8A8A8"/>
            </a:solidFill>
            <a:prstDash val="solid"/>
          </a:ln>
        </p:spPr>
      </p:sp>
      <p:sp>
        <p:nvSpPr>
          <p:cNvPr id="10" name="a660_162"/>
          <p:cNvSpPr txBox="1"/>
          <p:nvPr/>
        </p:nvSpPr>
        <p:spPr>
          <a:xfrm>
            <a:off x="1143000" y="52832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Standby</a:t>
            </a:r>
            <a:endParaRPr lang="en-US" sz="1300" dirty="0"/>
          </a:p>
        </p:txBody>
      </p:sp>
      <p:pic>
        <p:nvPicPr>
          <p:cNvPr id="11" name="a200_16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5400" y="1460500"/>
            <a:ext cx="6172200" cy="3945312"/>
          </a:xfrm>
          <a:prstGeom prst="rect">
            <a:avLst/>
          </a:prstGeom>
        </p:spPr>
      </p:pic>
      <p:sp>
        <p:nvSpPr>
          <p:cNvPr id="12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OFFICE</a:t>
            </a:r>
            <a:endParaRPr lang="en-US" sz="900" dirty="0"/>
          </a:p>
        </p:txBody>
      </p:sp>
      <p:sp>
        <p:nvSpPr>
          <p:cNvPr id="13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4" name="progress"/>
          <p:cNvSpPr/>
          <p:nvPr/>
        </p:nvSpPr>
        <p:spPr>
          <a:xfrm>
            <a:off x="0" y="6832600"/>
            <a:ext cx="6966857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164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request,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whole team</a:t>
            </a:r>
            <a:endParaRPr lang="en-US" sz="4800" dirty="0"/>
          </a:p>
        </p:txBody>
      </p:sp>
      <p:sp>
        <p:nvSpPr>
          <p:cNvPr id="3" name="a200_165"/>
          <p:cNvSpPr txBox="1"/>
          <p:nvPr/>
        </p:nvSpPr>
        <p:spPr>
          <a:xfrm>
            <a:off x="914400" y="2190750"/>
            <a:ext cx="50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000" dirty="0"/>
          </a:p>
        </p:txBody>
      </p:sp>
      <p:sp>
        <p:nvSpPr>
          <p:cNvPr id="4" name="a200_166"/>
          <p:cNvSpPr/>
          <p:nvPr/>
        </p:nvSpPr>
        <p:spPr>
          <a:xfrm>
            <a:off x="1333500" y="1905000"/>
            <a:ext cx="8255000" cy="736600"/>
          </a:xfrm>
          <a:prstGeom prst="roundRect">
            <a:avLst>
              <a:gd name="adj" fmla="val 34483"/>
            </a:avLst>
          </a:prstGeom>
          <a:solidFill>
            <a:srgbClr val="0A0A0A"/>
          </a:solidFill>
          <a:ln/>
        </p:spPr>
      </p:sp>
      <p:sp>
        <p:nvSpPr>
          <p:cNvPr id="5" name="a200_167"/>
          <p:cNvSpPr txBox="1"/>
          <p:nvPr/>
        </p:nvSpPr>
        <p:spPr>
          <a:xfrm>
            <a:off x="1587500" y="1905000"/>
            <a:ext cx="7874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“Make a visual and a caption for tomorrow’s post”</a:t>
            </a:r>
            <a:endParaRPr lang="en-US" sz="2200" dirty="0"/>
          </a:p>
        </p:txBody>
      </p:sp>
      <p:sp>
        <p:nvSpPr>
          <p:cNvPr id="6" name="a600_168"/>
          <p:cNvSpPr/>
          <p:nvPr/>
        </p:nvSpPr>
        <p:spPr>
          <a:xfrm>
            <a:off x="1143000" y="3403600"/>
            <a:ext cx="8290560" cy="64"/>
          </a:xfrm>
          <a:prstGeom prst="line">
            <a:avLst/>
          </a:prstGeom>
          <a:noFill/>
          <a:ln w="19050">
            <a:solidFill>
              <a:srgbClr val="0A0A0A"/>
            </a:solidFill>
            <a:prstDash val="solid"/>
          </a:ln>
        </p:spPr>
      </p:sp>
      <p:sp>
        <p:nvSpPr>
          <p:cNvPr id="7" name="a700_169"/>
          <p:cNvSpPr/>
          <p:nvPr/>
        </p:nvSpPr>
        <p:spPr>
          <a:xfrm>
            <a:off x="91440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8" name="a700_1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400" y="3302000"/>
            <a:ext cx="203200" cy="203200"/>
          </a:xfrm>
          <a:prstGeom prst="rect">
            <a:avLst/>
          </a:prstGeom>
        </p:spPr>
      </p:pic>
      <p:sp>
        <p:nvSpPr>
          <p:cNvPr id="9" name="a700_171"/>
          <p:cNvSpPr txBox="1"/>
          <p:nvPr/>
        </p:nvSpPr>
        <p:spPr>
          <a:xfrm>
            <a:off x="91440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800" dirty="0"/>
          </a:p>
        </p:txBody>
      </p:sp>
      <p:sp>
        <p:nvSpPr>
          <p:cNvPr id="10" name="a700_172"/>
          <p:cNvSpPr txBox="1"/>
          <p:nvPr/>
        </p:nvSpPr>
        <p:spPr>
          <a:xfrm>
            <a:off x="91440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delegates</a:t>
            </a:r>
            <a:endParaRPr lang="en-US" sz="1400" dirty="0"/>
          </a:p>
        </p:txBody>
      </p:sp>
      <p:sp>
        <p:nvSpPr>
          <p:cNvPr id="11" name="a1080_173"/>
          <p:cNvSpPr/>
          <p:nvPr/>
        </p:nvSpPr>
        <p:spPr>
          <a:xfrm>
            <a:off x="298704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2" name="a1080_1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040" y="3302000"/>
            <a:ext cx="203200" cy="203200"/>
          </a:xfrm>
          <a:prstGeom prst="rect">
            <a:avLst/>
          </a:prstGeom>
        </p:spPr>
      </p:pic>
      <p:sp>
        <p:nvSpPr>
          <p:cNvPr id="13" name="a1080_175"/>
          <p:cNvSpPr txBox="1"/>
          <p:nvPr/>
        </p:nvSpPr>
        <p:spPr>
          <a:xfrm>
            <a:off x="298704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800" dirty="0"/>
          </a:p>
        </p:txBody>
      </p:sp>
      <p:sp>
        <p:nvSpPr>
          <p:cNvPr id="14" name="a1080_176"/>
          <p:cNvSpPr txBox="1"/>
          <p:nvPr/>
        </p:nvSpPr>
        <p:spPr>
          <a:xfrm>
            <a:off x="298704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 the visual</a:t>
            </a:r>
            <a:endParaRPr lang="en-US" sz="1400" dirty="0"/>
          </a:p>
        </p:txBody>
      </p:sp>
      <p:sp>
        <p:nvSpPr>
          <p:cNvPr id="15" name="a1460_177"/>
          <p:cNvSpPr/>
          <p:nvPr/>
        </p:nvSpPr>
        <p:spPr>
          <a:xfrm>
            <a:off x="505968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6" name="a1460_17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680" y="3302000"/>
            <a:ext cx="203200" cy="203200"/>
          </a:xfrm>
          <a:prstGeom prst="rect">
            <a:avLst/>
          </a:prstGeom>
        </p:spPr>
      </p:pic>
      <p:sp>
        <p:nvSpPr>
          <p:cNvPr id="17" name="a1460_179"/>
          <p:cNvSpPr txBox="1"/>
          <p:nvPr/>
        </p:nvSpPr>
        <p:spPr>
          <a:xfrm>
            <a:off x="505968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800" dirty="0"/>
          </a:p>
        </p:txBody>
      </p:sp>
      <p:sp>
        <p:nvSpPr>
          <p:cNvPr id="18" name="a1460_180"/>
          <p:cNvSpPr txBox="1"/>
          <p:nvPr/>
        </p:nvSpPr>
        <p:spPr>
          <a:xfrm>
            <a:off x="505968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caption</a:t>
            </a:r>
            <a:endParaRPr lang="en-US" sz="1400" dirty="0"/>
          </a:p>
        </p:txBody>
      </p:sp>
      <p:sp>
        <p:nvSpPr>
          <p:cNvPr id="19" name="a1840_181"/>
          <p:cNvSpPr/>
          <p:nvPr/>
        </p:nvSpPr>
        <p:spPr>
          <a:xfrm>
            <a:off x="7132320" y="3175000"/>
            <a:ext cx="457200" cy="4572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0" name="a1840_18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320" y="3302000"/>
            <a:ext cx="203200" cy="203200"/>
          </a:xfrm>
          <a:prstGeom prst="rect">
            <a:avLst/>
          </a:prstGeom>
        </p:spPr>
      </p:pic>
      <p:sp>
        <p:nvSpPr>
          <p:cNvPr id="21" name="a1840_183"/>
          <p:cNvSpPr txBox="1"/>
          <p:nvPr/>
        </p:nvSpPr>
        <p:spPr>
          <a:xfrm>
            <a:off x="713232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800" dirty="0"/>
          </a:p>
        </p:txBody>
      </p:sp>
      <p:sp>
        <p:nvSpPr>
          <p:cNvPr id="22" name="a1840_184"/>
          <p:cNvSpPr txBox="1"/>
          <p:nvPr/>
        </p:nvSpPr>
        <p:spPr>
          <a:xfrm>
            <a:off x="713232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it all together</a:t>
            </a:r>
            <a:endParaRPr lang="en-US" sz="1400" dirty="0"/>
          </a:p>
        </p:txBody>
      </p:sp>
      <p:sp>
        <p:nvSpPr>
          <p:cNvPr id="23" name="a2220_185"/>
          <p:cNvSpPr/>
          <p:nvPr/>
        </p:nvSpPr>
        <p:spPr>
          <a:xfrm>
            <a:off x="9204960" y="3175000"/>
            <a:ext cx="457200" cy="457200"/>
          </a:xfrm>
          <a:prstGeom prst="ellipse">
            <a:avLst/>
          </a:prstGeom>
          <a:solidFill>
            <a:srgbClr val="0A0A0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4" name="a2220_1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1960" y="3302000"/>
            <a:ext cx="203200" cy="203200"/>
          </a:xfrm>
          <a:prstGeom prst="rect">
            <a:avLst/>
          </a:prstGeom>
        </p:spPr>
      </p:pic>
      <p:sp>
        <p:nvSpPr>
          <p:cNvPr id="25" name="a2220_187"/>
          <p:cNvSpPr txBox="1"/>
          <p:nvPr/>
        </p:nvSpPr>
        <p:spPr>
          <a:xfrm>
            <a:off x="9204960" y="3886200"/>
            <a:ext cx="186944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800" dirty="0"/>
          </a:p>
        </p:txBody>
      </p:sp>
      <p:sp>
        <p:nvSpPr>
          <p:cNvPr id="26" name="a2220_188"/>
          <p:cNvSpPr txBox="1"/>
          <p:nvPr/>
        </p:nvSpPr>
        <p:spPr>
          <a:xfrm>
            <a:off x="9204960" y="4254500"/>
            <a:ext cx="181864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posting</a:t>
            </a:r>
            <a:endParaRPr lang="en-US" sz="1400" dirty="0"/>
          </a:p>
        </p:txBody>
      </p:sp>
      <p:sp>
        <p:nvSpPr>
          <p:cNvPr id="27" name="a2600_189"/>
          <p:cNvSpPr/>
          <p:nvPr/>
        </p:nvSpPr>
        <p:spPr>
          <a:xfrm>
            <a:off x="914400" y="5473700"/>
            <a:ext cx="10363200" cy="660400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pic>
        <p:nvPicPr>
          <p:cNvPr id="28" name="a2600_19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400" y="5676900"/>
            <a:ext cx="254000" cy="254000"/>
          </a:xfrm>
          <a:prstGeom prst="rect">
            <a:avLst/>
          </a:prstGeom>
        </p:spPr>
      </p:pic>
      <p:sp>
        <p:nvSpPr>
          <p:cNvPr id="29" name="a2600_191"/>
          <p:cNvSpPr txBox="1"/>
          <p:nvPr/>
        </p:nvSpPr>
        <p:spPr>
          <a:xfrm>
            <a:off x="1600200" y="5473700"/>
            <a:ext cx="94615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autopilot every day: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researcher scans the news  →  the CEO sends me a daily report. </a:t>
            </a:r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 needed.</a:t>
            </a:r>
            <a:endParaRPr lang="en-US" sz="1400" dirty="0"/>
          </a:p>
        </p:txBody>
      </p:sp>
      <p:sp>
        <p:nvSpPr>
          <p:cNvPr id="30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WORK FLOWS</a:t>
            </a:r>
            <a:endParaRPr lang="en-US" sz="900" dirty="0"/>
          </a:p>
        </p:txBody>
      </p:sp>
      <p:sp>
        <p:nvSpPr>
          <p:cNvPr id="31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32" name="progress"/>
          <p:cNvSpPr/>
          <p:nvPr/>
        </p:nvSpPr>
        <p:spPr>
          <a:xfrm>
            <a:off x="0" y="6832600"/>
            <a:ext cx="7837714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192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output,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morning</a:t>
            </a:r>
            <a:endParaRPr lang="en-US" sz="4800" dirty="0"/>
          </a:p>
        </p:txBody>
      </p:sp>
      <p:sp>
        <p:nvSpPr>
          <p:cNvPr id="3" name="a200_193"/>
          <p:cNvSpPr txBox="1"/>
          <p:nvPr/>
        </p:nvSpPr>
        <p:spPr>
          <a:xfrm>
            <a:off x="914400" y="1905000"/>
            <a:ext cx="2667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 · </a:t>
            </a:r>
            <a:pPr algn="l"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Edward</a:t>
            </a:r>
            <a:endParaRPr lang="en-US" sz="1500" dirty="0"/>
          </a:p>
        </p:txBody>
      </p:sp>
      <p:sp>
        <p:nvSpPr>
          <p:cNvPr id="4" name="a200_194"/>
          <p:cNvSpPr txBox="1"/>
          <p:nvPr/>
        </p:nvSpPr>
        <p:spPr>
          <a:xfrm>
            <a:off x="2819400" y="1955800"/>
            <a:ext cx="312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07:00 NEWS BRIEF</a:t>
            </a:r>
            <a:endParaRPr lang="en-US" sz="1000" dirty="0"/>
          </a:p>
        </p:txBody>
      </p:sp>
      <p:pic>
        <p:nvPicPr>
          <p:cNvPr id="5" name="a200_19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98700"/>
            <a:ext cx="5029200" cy="3412671"/>
          </a:xfrm>
          <a:prstGeom prst="rect">
            <a:avLst/>
          </a:prstGeom>
        </p:spPr>
      </p:pic>
      <p:sp>
        <p:nvSpPr>
          <p:cNvPr id="6" name="a400_196"/>
          <p:cNvSpPr txBox="1"/>
          <p:nvPr/>
        </p:nvSpPr>
        <p:spPr>
          <a:xfrm>
            <a:off x="6248400" y="1905000"/>
            <a:ext cx="2667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· </a:t>
            </a:r>
            <a:pPr algn="l"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6363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Rudi</a:t>
            </a:r>
            <a:endParaRPr lang="en-US" sz="1500" dirty="0"/>
          </a:p>
        </p:txBody>
      </p:sp>
      <p:sp>
        <p:nvSpPr>
          <p:cNvPr id="7" name="a400_197"/>
          <p:cNvSpPr txBox="1"/>
          <p:nvPr/>
        </p:nvSpPr>
        <p:spPr>
          <a:xfrm>
            <a:off x="8153400" y="1955800"/>
            <a:ext cx="312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REPORT ON EVERYONE’S WORK</a:t>
            </a:r>
            <a:endParaRPr lang="en-US" sz="1000" dirty="0"/>
          </a:p>
        </p:txBody>
      </p:sp>
      <p:pic>
        <p:nvPicPr>
          <p:cNvPr id="8" name="a400_19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2298700"/>
            <a:ext cx="5029200" cy="3513887"/>
          </a:xfrm>
          <a:prstGeom prst="rect">
            <a:avLst/>
          </a:prstGeom>
        </p:spPr>
      </p:pic>
      <p:sp>
        <p:nvSpPr>
          <p:cNvPr id="9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AT WORK</a:t>
            </a:r>
            <a:endParaRPr lang="en-US" sz="900" dirty="0"/>
          </a:p>
        </p:txBody>
      </p:sp>
      <p:sp>
        <p:nvSpPr>
          <p:cNvPr id="10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1" name="progress"/>
          <p:cNvSpPr/>
          <p:nvPr/>
        </p:nvSpPr>
        <p:spPr>
          <a:xfrm>
            <a:off x="0" y="6832600"/>
            <a:ext cx="8708571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199"/>
          <p:cNvSpPr txBox="1"/>
          <p:nvPr/>
        </p:nvSpPr>
        <p:spPr>
          <a:xfrm>
            <a:off x="914400" y="762000"/>
            <a:ext cx="1036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my notes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2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 clean journal</a:t>
            </a:r>
            <a:endParaRPr lang="en-US" sz="4800" dirty="0"/>
          </a:p>
        </p:txBody>
      </p:sp>
      <p:sp>
        <p:nvSpPr>
          <p:cNvPr id="3" name="a200_200"/>
          <p:cNvSpPr txBox="1"/>
          <p:nvPr/>
        </p:nvSpPr>
        <p:spPr>
          <a:xfrm>
            <a:off x="914400" y="2159000"/>
            <a:ext cx="406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 SEND MY NOTES + CHART</a:t>
            </a:r>
            <a:endParaRPr lang="en-US" sz="1000" dirty="0"/>
          </a:p>
        </p:txBody>
      </p:sp>
      <p:pic>
        <p:nvPicPr>
          <p:cNvPr id="4" name="a200_2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38400"/>
            <a:ext cx="4064000" cy="1868049"/>
          </a:xfrm>
          <a:prstGeom prst="rect">
            <a:avLst/>
          </a:prstGeom>
        </p:spPr>
      </p:pic>
      <p:pic>
        <p:nvPicPr>
          <p:cNvPr id="5" name="a700_2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100" y="3302000"/>
            <a:ext cx="355600" cy="355600"/>
          </a:xfrm>
          <a:prstGeom prst="rect">
            <a:avLst/>
          </a:prstGeom>
        </p:spPr>
      </p:pic>
      <p:sp>
        <p:nvSpPr>
          <p:cNvPr id="6" name="a900_203"/>
          <p:cNvSpPr txBox="1"/>
          <p:nvPr/>
        </p:nvSpPr>
        <p:spPr>
          <a:xfrm>
            <a:off x="5613400" y="2159000"/>
            <a:ext cx="5664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THE AGENT REVIEWS AND LOGS IT</a:t>
            </a:r>
            <a:endParaRPr lang="en-US" sz="1000" dirty="0"/>
          </a:p>
        </p:txBody>
      </p:sp>
      <p:pic>
        <p:nvPicPr>
          <p:cNvPr id="7" name="a900_20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400" y="2438400"/>
            <a:ext cx="5664200" cy="2618386"/>
          </a:xfrm>
          <a:prstGeom prst="rect">
            <a:avLst/>
          </a:prstGeom>
        </p:spPr>
      </p:pic>
      <p:sp>
        <p:nvSpPr>
          <p:cNvPr id="8" name="a1300_205"/>
          <p:cNvSpPr txBox="1"/>
          <p:nvPr/>
        </p:nvSpPr>
        <p:spPr>
          <a:xfrm>
            <a:off x="914400" y="5588000"/>
            <a:ext cx="10363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analyst:  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 casual chat message into a structured journal entry, with a review of the decision.</a:t>
            </a:r>
            <a:endParaRPr lang="en-US" sz="1500" dirty="0"/>
          </a:p>
        </p:txBody>
      </p:sp>
      <p:sp>
        <p:nvSpPr>
          <p:cNvPr id="9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AT WORK</a:t>
            </a:r>
            <a:endParaRPr lang="en-US" sz="900" dirty="0"/>
          </a:p>
        </p:txBody>
      </p:sp>
      <p:sp>
        <p:nvSpPr>
          <p:cNvPr id="10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11" name="progress"/>
          <p:cNvSpPr/>
          <p:nvPr/>
        </p:nvSpPr>
        <p:spPr>
          <a:xfrm>
            <a:off x="0" y="6832600"/>
            <a:ext cx="9579429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206"/>
          <p:cNvSpPr txBox="1"/>
          <p:nvPr/>
        </p:nvSpPr>
        <p:spPr>
          <a:xfrm>
            <a:off x="889000" y="635000"/>
            <a:ext cx="3810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0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Dojima</a:t>
            </a:r>
            <a:endParaRPr lang="en-US" sz="8000" dirty="0"/>
          </a:p>
        </p:txBody>
      </p:sp>
      <p:sp>
        <p:nvSpPr>
          <p:cNvPr id="3" name="a300_207"/>
          <p:cNvSpPr txBox="1"/>
          <p:nvPr/>
        </p:nvSpPr>
        <p:spPr>
          <a:xfrm>
            <a:off x="914400" y="20320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trading-practice web app I built with Claude Code, </a:t>
            </a:r>
            <a:pPr algn="l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writing the code myself.</a:t>
            </a:r>
            <a:endParaRPr lang="en-US" sz="1700" dirty="0"/>
          </a:p>
        </p:txBody>
      </p:sp>
      <p:sp>
        <p:nvSpPr>
          <p:cNvPr id="4" name="a600_208"/>
          <p:cNvSpPr/>
          <p:nvPr/>
        </p:nvSpPr>
        <p:spPr>
          <a:xfrm>
            <a:off x="914400" y="39243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5" name="a700_20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254000" cy="254000"/>
          </a:xfrm>
          <a:prstGeom prst="rect">
            <a:avLst/>
          </a:prstGeom>
        </p:spPr>
      </p:pic>
      <p:sp>
        <p:nvSpPr>
          <p:cNvPr id="6" name="a700_210"/>
          <p:cNvSpPr txBox="1"/>
          <p:nvPr/>
        </p:nvSpPr>
        <p:spPr>
          <a:xfrm>
            <a:off x="1384300" y="40640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7" name="a700_211"/>
          <p:cNvSpPr txBox="1"/>
          <p:nvPr/>
        </p:nvSpPr>
        <p:spPr>
          <a:xfrm>
            <a:off x="1384300" y="43180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see: charts, journal, themes</a:t>
            </a:r>
            <a:endParaRPr lang="en-US" sz="1150" dirty="0"/>
          </a:p>
        </p:txBody>
      </p:sp>
      <p:sp>
        <p:nvSpPr>
          <p:cNvPr id="8" name="a700_212"/>
          <p:cNvSpPr/>
          <p:nvPr/>
        </p:nvSpPr>
        <p:spPr>
          <a:xfrm>
            <a:off x="914400" y="46736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9" name="a820_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864100"/>
            <a:ext cx="254000" cy="254000"/>
          </a:xfrm>
          <a:prstGeom prst="rect">
            <a:avLst/>
          </a:prstGeom>
        </p:spPr>
      </p:pic>
      <p:sp>
        <p:nvSpPr>
          <p:cNvPr id="10" name="a820_214"/>
          <p:cNvSpPr txBox="1"/>
          <p:nvPr/>
        </p:nvSpPr>
        <p:spPr>
          <a:xfrm>
            <a:off x="1384300" y="48133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1" name="a820_215"/>
          <p:cNvSpPr txBox="1"/>
          <p:nvPr/>
        </p:nvSpPr>
        <p:spPr>
          <a:xfrm>
            <a:off x="1384300" y="50673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engine: orders, replay, login</a:t>
            </a:r>
            <a:endParaRPr lang="en-US" sz="1150" dirty="0"/>
          </a:p>
        </p:txBody>
      </p:sp>
      <p:sp>
        <p:nvSpPr>
          <p:cNvPr id="12" name="a820_216"/>
          <p:cNvSpPr/>
          <p:nvPr/>
        </p:nvSpPr>
        <p:spPr>
          <a:xfrm>
            <a:off x="914400" y="54229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3" name="a940_2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613400"/>
            <a:ext cx="254000" cy="254000"/>
          </a:xfrm>
          <a:prstGeom prst="rect">
            <a:avLst/>
          </a:prstGeom>
        </p:spPr>
      </p:pic>
      <p:sp>
        <p:nvSpPr>
          <p:cNvPr id="14" name="a940_218"/>
          <p:cNvSpPr txBox="1"/>
          <p:nvPr/>
        </p:nvSpPr>
        <p:spPr>
          <a:xfrm>
            <a:off x="1384300" y="55626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5" name="a940_219"/>
          <p:cNvSpPr txBox="1"/>
          <p:nvPr/>
        </p:nvSpPr>
        <p:spPr>
          <a:xfrm>
            <a:off x="1384300" y="58166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memory: accounts and trades</a:t>
            </a:r>
            <a:endParaRPr lang="en-US" sz="1150" dirty="0"/>
          </a:p>
        </p:txBody>
      </p:sp>
      <p:sp>
        <p:nvSpPr>
          <p:cNvPr id="16" name="a940_220"/>
          <p:cNvSpPr/>
          <p:nvPr/>
        </p:nvSpPr>
        <p:spPr>
          <a:xfrm>
            <a:off x="914400" y="6172200"/>
            <a:ext cx="3556000" cy="64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pic>
        <p:nvPicPr>
          <p:cNvPr id="17" name="a250_22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714500"/>
            <a:ext cx="6299200" cy="2973984"/>
          </a:xfrm>
          <a:prstGeom prst="rect">
            <a:avLst/>
          </a:prstGeom>
        </p:spPr>
      </p:pic>
      <p:sp>
        <p:nvSpPr>
          <p:cNvPr id="18" name="a1300_222"/>
          <p:cNvSpPr txBox="1"/>
          <p:nvPr/>
        </p:nvSpPr>
        <p:spPr>
          <a:xfrm>
            <a:off x="4978400" y="5016500"/>
            <a:ext cx="6299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it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Claude Code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it</a:t>
            </a:r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it 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goes live</a:t>
            </a:r>
            <a:endParaRPr lang="en-US" sz="1500" dirty="0"/>
          </a:p>
        </p:txBody>
      </p:sp>
      <p:sp>
        <p:nvSpPr>
          <p:cNvPr id="19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AN AGENT</a:t>
            </a:r>
            <a:endParaRPr lang="en-US" sz="900" dirty="0"/>
          </a:p>
        </p:txBody>
      </p:sp>
      <p:sp>
        <p:nvSpPr>
          <p:cNvPr id="20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21" name="progress"/>
          <p:cNvSpPr/>
          <p:nvPr/>
        </p:nvSpPr>
        <p:spPr>
          <a:xfrm>
            <a:off x="0" y="6832600"/>
            <a:ext cx="10450286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223"/>
          <p:cNvSpPr txBox="1"/>
          <p:nvPr/>
        </p:nvSpPr>
        <p:spPr>
          <a:xfrm>
            <a:off x="914400" y="698500"/>
            <a:ext cx="3556000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spc="-20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team</a:t>
            </a:r>
            <a:endParaRPr lang="en-US" sz="5200" dirty="0"/>
          </a:p>
        </p:txBody>
      </p:sp>
      <p:sp>
        <p:nvSpPr>
          <p:cNvPr id="3" name="a120_224"/>
          <p:cNvSpPr txBox="1"/>
          <p:nvPr/>
        </p:nvSpPr>
        <p:spPr>
          <a:xfrm>
            <a:off x="914400" y="1372108"/>
            <a:ext cx="355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408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HR</a:t>
            </a:r>
            <a:endParaRPr lang="en-US" sz="5408" dirty="0"/>
          </a:p>
        </p:txBody>
      </p:sp>
      <p:sp>
        <p:nvSpPr>
          <p:cNvPr id="4" name="a300_225"/>
          <p:cNvSpPr txBox="1"/>
          <p:nvPr/>
        </p:nvSpPr>
        <p:spPr>
          <a:xfrm>
            <a:off x="914400" y="2413000"/>
            <a:ext cx="317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orchestrator that understands HR, with a specialist for each job.</a:t>
            </a:r>
            <a:endParaRPr lang="en-US" sz="1700" dirty="0"/>
          </a:p>
        </p:txBody>
      </p:sp>
      <p:pic>
        <p:nvPicPr>
          <p:cNvPr id="5" name="a1600_2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930900"/>
            <a:ext cx="177800" cy="177800"/>
          </a:xfrm>
          <a:prstGeom prst="rect">
            <a:avLst/>
          </a:prstGeom>
        </p:spPr>
      </p:pic>
      <p:sp>
        <p:nvSpPr>
          <p:cNvPr id="6" name="a1600_227"/>
          <p:cNvSpPr txBox="1"/>
          <p:nvPr/>
        </p:nvSpPr>
        <p:spPr>
          <a:xfrm>
            <a:off x="1193800" y="5905500"/>
            <a:ext cx="406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still reviews and approves everything.</a:t>
            </a:r>
            <a:endParaRPr lang="en-US" sz="1200" dirty="0"/>
          </a:p>
        </p:txBody>
      </p:sp>
      <p:sp>
        <p:nvSpPr>
          <p:cNvPr id="7" name="a200_228"/>
          <p:cNvSpPr/>
          <p:nvPr/>
        </p:nvSpPr>
        <p:spPr>
          <a:xfrm>
            <a:off x="4826000" y="1905000"/>
            <a:ext cx="1079500" cy="40640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a200_229"/>
          <p:cNvSpPr txBox="1"/>
          <p:nvPr/>
        </p:nvSpPr>
        <p:spPr>
          <a:xfrm>
            <a:off x="4826000" y="1905000"/>
            <a:ext cx="10795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team</a:t>
            </a:r>
            <a:endParaRPr lang="en-US" sz="1400" dirty="0"/>
          </a:p>
        </p:txBody>
      </p:sp>
      <p:sp>
        <p:nvSpPr>
          <p:cNvPr id="9" name="a350_230"/>
          <p:cNvSpPr/>
          <p:nvPr/>
        </p:nvSpPr>
        <p:spPr>
          <a:xfrm>
            <a:off x="5080000" y="2311400"/>
            <a:ext cx="64" cy="8382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0" name="a450_231"/>
          <p:cNvSpPr/>
          <p:nvPr/>
        </p:nvSpPr>
        <p:spPr>
          <a:xfrm>
            <a:off x="4826000" y="3149600"/>
            <a:ext cx="1397000" cy="812800"/>
          </a:xfrm>
          <a:prstGeom prst="roundRect">
            <a:avLst>
              <a:gd name="adj" fmla="val 15625"/>
            </a:avLst>
          </a:prstGeom>
          <a:solidFill>
            <a:srgbClr val="0A0A0A"/>
          </a:solidFill>
          <a:ln/>
        </p:spPr>
      </p:sp>
      <p:sp>
        <p:nvSpPr>
          <p:cNvPr id="11" name="a450_232"/>
          <p:cNvSpPr txBox="1"/>
          <p:nvPr/>
        </p:nvSpPr>
        <p:spPr>
          <a:xfrm>
            <a:off x="4991100" y="3149600"/>
            <a:ext cx="12065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HR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600" b="1" i="1" dirty="0">
                <a:solidFill>
                  <a:srgbClr val="8A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2" name="a650_233"/>
          <p:cNvSpPr/>
          <p:nvPr/>
        </p:nvSpPr>
        <p:spPr>
          <a:xfrm>
            <a:off x="6223000" y="355600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3" name="a700_234"/>
          <p:cNvSpPr/>
          <p:nvPr/>
        </p:nvSpPr>
        <p:spPr>
          <a:xfrm>
            <a:off x="6604000" y="2000250"/>
            <a:ext cx="64" cy="3111500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4" name="a800_235"/>
          <p:cNvSpPr/>
          <p:nvPr/>
        </p:nvSpPr>
        <p:spPr>
          <a:xfrm>
            <a:off x="6604000" y="20002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15" name="a900_236"/>
          <p:cNvSpPr/>
          <p:nvPr/>
        </p:nvSpPr>
        <p:spPr>
          <a:xfrm>
            <a:off x="6985000" y="18224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16" name="a900_23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00" y="1911350"/>
            <a:ext cx="177800" cy="177800"/>
          </a:xfrm>
          <a:prstGeom prst="rect">
            <a:avLst/>
          </a:prstGeom>
        </p:spPr>
      </p:pic>
      <p:sp>
        <p:nvSpPr>
          <p:cNvPr id="17" name="a900_238"/>
          <p:cNvSpPr txBox="1"/>
          <p:nvPr/>
        </p:nvSpPr>
        <p:spPr>
          <a:xfrm>
            <a:off x="7518400" y="18605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descriptions</a:t>
            </a:r>
            <a:endParaRPr lang="en-US" sz="1600" dirty="0"/>
          </a:p>
        </p:txBody>
      </p:sp>
      <p:sp>
        <p:nvSpPr>
          <p:cNvPr id="18" name="a900_239"/>
          <p:cNvSpPr txBox="1"/>
          <p:nvPr/>
        </p:nvSpPr>
        <p:spPr>
          <a:xfrm>
            <a:off x="9398000" y="17843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JDs from a short brief</a:t>
            </a:r>
            <a:endParaRPr lang="en-US" sz="1200" dirty="0"/>
          </a:p>
        </p:txBody>
      </p:sp>
      <p:sp>
        <p:nvSpPr>
          <p:cNvPr id="19" name="a800_240"/>
          <p:cNvSpPr/>
          <p:nvPr/>
        </p:nvSpPr>
        <p:spPr>
          <a:xfrm>
            <a:off x="6604000" y="26225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0" name="a980_241"/>
          <p:cNvSpPr/>
          <p:nvPr/>
        </p:nvSpPr>
        <p:spPr>
          <a:xfrm>
            <a:off x="6985000" y="24447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1" name="a980_24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0" y="2533650"/>
            <a:ext cx="177800" cy="177800"/>
          </a:xfrm>
          <a:prstGeom prst="rect">
            <a:avLst/>
          </a:prstGeom>
        </p:spPr>
      </p:pic>
      <p:sp>
        <p:nvSpPr>
          <p:cNvPr id="22" name="a980_243"/>
          <p:cNvSpPr txBox="1"/>
          <p:nvPr/>
        </p:nvSpPr>
        <p:spPr>
          <a:xfrm>
            <a:off x="7518400" y="24828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Recruitment</a:t>
            </a:r>
            <a:endParaRPr lang="en-US" sz="1600" dirty="0"/>
          </a:p>
        </p:txBody>
      </p:sp>
      <p:sp>
        <p:nvSpPr>
          <p:cNvPr id="23" name="a980_244"/>
          <p:cNvSpPr txBox="1"/>
          <p:nvPr/>
        </p:nvSpPr>
        <p:spPr>
          <a:xfrm>
            <a:off x="9398000" y="24066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notes and interview kits</a:t>
            </a:r>
            <a:endParaRPr lang="en-US" sz="1200" dirty="0"/>
          </a:p>
        </p:txBody>
      </p:sp>
      <p:sp>
        <p:nvSpPr>
          <p:cNvPr id="24" name="a800_245"/>
          <p:cNvSpPr/>
          <p:nvPr/>
        </p:nvSpPr>
        <p:spPr>
          <a:xfrm>
            <a:off x="6604000" y="32448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25" name="a1060_246"/>
          <p:cNvSpPr/>
          <p:nvPr/>
        </p:nvSpPr>
        <p:spPr>
          <a:xfrm>
            <a:off x="6985000" y="30670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26" name="a1060_24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900" y="3155950"/>
            <a:ext cx="177800" cy="177800"/>
          </a:xfrm>
          <a:prstGeom prst="rect">
            <a:avLst/>
          </a:prstGeom>
        </p:spPr>
      </p:pic>
      <p:sp>
        <p:nvSpPr>
          <p:cNvPr id="27" name="a1060_248"/>
          <p:cNvSpPr txBox="1"/>
          <p:nvPr/>
        </p:nvSpPr>
        <p:spPr>
          <a:xfrm>
            <a:off x="7518400" y="31051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28" name="a1060_249"/>
          <p:cNvSpPr txBox="1"/>
          <p:nvPr/>
        </p:nvSpPr>
        <p:spPr>
          <a:xfrm>
            <a:off x="9398000" y="30289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 and first-week plans</a:t>
            </a:r>
            <a:endParaRPr lang="en-US" sz="1200" dirty="0"/>
          </a:p>
        </p:txBody>
      </p:sp>
      <p:sp>
        <p:nvSpPr>
          <p:cNvPr id="29" name="a800_250"/>
          <p:cNvSpPr/>
          <p:nvPr/>
        </p:nvSpPr>
        <p:spPr>
          <a:xfrm>
            <a:off x="6604000" y="38671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0" name="a1140_251"/>
          <p:cNvSpPr/>
          <p:nvPr/>
        </p:nvSpPr>
        <p:spPr>
          <a:xfrm>
            <a:off x="6985000" y="36893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1" name="a1140_2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3900" y="3778250"/>
            <a:ext cx="177800" cy="177800"/>
          </a:xfrm>
          <a:prstGeom prst="rect">
            <a:avLst/>
          </a:prstGeom>
        </p:spPr>
      </p:pic>
      <p:sp>
        <p:nvSpPr>
          <p:cNvPr id="32" name="a1140_253"/>
          <p:cNvSpPr txBox="1"/>
          <p:nvPr/>
        </p:nvSpPr>
        <p:spPr>
          <a:xfrm>
            <a:off x="7518400" y="37274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reports</a:t>
            </a:r>
            <a:endParaRPr lang="en-US" sz="1600" dirty="0"/>
          </a:p>
        </p:txBody>
      </p:sp>
      <p:sp>
        <p:nvSpPr>
          <p:cNvPr id="33" name="a1140_254"/>
          <p:cNvSpPr txBox="1"/>
          <p:nvPr/>
        </p:nvSpPr>
        <p:spPr>
          <a:xfrm>
            <a:off x="9398000" y="36512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and monthly summaries</a:t>
            </a:r>
            <a:endParaRPr lang="en-US" sz="1200" dirty="0"/>
          </a:p>
        </p:txBody>
      </p:sp>
      <p:sp>
        <p:nvSpPr>
          <p:cNvPr id="34" name="a800_255"/>
          <p:cNvSpPr/>
          <p:nvPr/>
        </p:nvSpPr>
        <p:spPr>
          <a:xfrm>
            <a:off x="6604000" y="44894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35" name="a1220_256"/>
          <p:cNvSpPr/>
          <p:nvPr/>
        </p:nvSpPr>
        <p:spPr>
          <a:xfrm>
            <a:off x="6985000" y="43116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36" name="a1220_25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3900" y="4400550"/>
            <a:ext cx="177800" cy="177800"/>
          </a:xfrm>
          <a:prstGeom prst="rect">
            <a:avLst/>
          </a:prstGeom>
        </p:spPr>
      </p:pic>
      <p:sp>
        <p:nvSpPr>
          <p:cNvPr id="37" name="a1220_258"/>
          <p:cNvSpPr txBox="1"/>
          <p:nvPr/>
        </p:nvSpPr>
        <p:spPr>
          <a:xfrm>
            <a:off x="7518400" y="43497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Q&amp;A</a:t>
            </a:r>
            <a:endParaRPr lang="en-US" sz="1600" dirty="0"/>
          </a:p>
        </p:txBody>
      </p:sp>
      <p:sp>
        <p:nvSpPr>
          <p:cNvPr id="38" name="a1220_259"/>
          <p:cNvSpPr txBox="1"/>
          <p:nvPr/>
        </p:nvSpPr>
        <p:spPr>
          <a:xfrm>
            <a:off x="9398000" y="42735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staff questions from the handbook</a:t>
            </a:r>
            <a:endParaRPr lang="en-US" sz="1200" dirty="0"/>
          </a:p>
        </p:txBody>
      </p:sp>
      <p:sp>
        <p:nvSpPr>
          <p:cNvPr id="39" name="a800_260"/>
          <p:cNvSpPr/>
          <p:nvPr/>
        </p:nvSpPr>
        <p:spPr>
          <a:xfrm>
            <a:off x="6604000" y="5111750"/>
            <a:ext cx="381000" cy="64"/>
          </a:xfrm>
          <a:prstGeom prst="line">
            <a:avLst/>
          </a:prstGeom>
          <a:noFill/>
          <a:ln w="12700">
            <a:solidFill>
              <a:srgbClr val="A8A8A8"/>
            </a:solidFill>
            <a:prstDash val="solid"/>
          </a:ln>
        </p:spPr>
      </p:sp>
      <p:sp>
        <p:nvSpPr>
          <p:cNvPr id="40" name="a1300_261"/>
          <p:cNvSpPr/>
          <p:nvPr/>
        </p:nvSpPr>
        <p:spPr>
          <a:xfrm>
            <a:off x="6985000" y="4933950"/>
            <a:ext cx="355600" cy="355600"/>
          </a:xfrm>
          <a:prstGeom prst="ellipse">
            <a:avLst/>
          </a:prstGeom>
          <a:solidFill>
            <a:srgbClr val="FAFAFA"/>
          </a:solidFill>
          <a:ln w="19050">
            <a:solidFill>
              <a:srgbClr val="0A0A0A"/>
            </a:solidFill>
            <a:prstDash val="solid"/>
          </a:ln>
        </p:spPr>
      </p:sp>
      <p:pic>
        <p:nvPicPr>
          <p:cNvPr id="41" name="a1300_26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3900" y="5022850"/>
            <a:ext cx="177800" cy="177800"/>
          </a:xfrm>
          <a:prstGeom prst="rect">
            <a:avLst/>
          </a:prstGeom>
        </p:spPr>
      </p:pic>
      <p:sp>
        <p:nvSpPr>
          <p:cNvPr id="42" name="a1300_263"/>
          <p:cNvSpPr txBox="1"/>
          <p:nvPr/>
        </p:nvSpPr>
        <p:spPr>
          <a:xfrm>
            <a:off x="7518400" y="4972050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3" name="a1300_264"/>
          <p:cNvSpPr txBox="1"/>
          <p:nvPr/>
        </p:nvSpPr>
        <p:spPr>
          <a:xfrm>
            <a:off x="9398000" y="4895850"/>
            <a:ext cx="2159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363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plans and materials</a:t>
            </a:r>
            <a:endParaRPr lang="en-US" sz="1200" dirty="0"/>
          </a:p>
        </p:txBody>
      </p:sp>
      <p:sp>
        <p:nvSpPr>
          <p:cNvPr id="44" name="footer-section"/>
          <p:cNvSpPr txBox="1"/>
          <p:nvPr/>
        </p:nvSpPr>
        <p:spPr>
          <a:xfrm>
            <a:off x="914400" y="6388100"/>
            <a:ext cx="571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FOR HR</a:t>
            </a:r>
            <a:endParaRPr lang="en-US" sz="900" dirty="0"/>
          </a:p>
        </p:txBody>
      </p:sp>
      <p:sp>
        <p:nvSpPr>
          <p:cNvPr id="45" name="footer-count"/>
          <p:cNvSpPr txBox="1"/>
          <p:nvPr/>
        </p:nvSpPr>
        <p:spPr>
          <a:xfrm>
            <a:off x="9372600" y="6388100"/>
            <a:ext cx="1905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pPr algn="r" indent="0" marL="0">
              <a:lnSpc>
                <a:spcPct val="110000"/>
              </a:lnSpc>
              <a:buNone/>
            </a:pPr>
            <a:r>
              <a:rPr lang="en-US" sz="900" spc="120" kern="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14</a:t>
            </a:r>
            <a:endParaRPr lang="en-US" sz="900" dirty="0"/>
          </a:p>
        </p:txBody>
      </p:sp>
      <p:sp>
        <p:nvSpPr>
          <p:cNvPr id="46" name="progress"/>
          <p:cNvSpPr/>
          <p:nvPr/>
        </p:nvSpPr>
        <p:spPr>
          <a:xfrm>
            <a:off x="0" y="6832600"/>
            <a:ext cx="11321143" cy="25400"/>
          </a:xfrm>
          <a:prstGeom prst="rect">
            <a:avLst/>
          </a:prstGeom>
          <a:solidFill>
            <a:srgbClr val="0A0A0A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0_265"/>
          <p:cNvSpPr txBox="1"/>
          <p:nvPr/>
        </p:nvSpPr>
        <p:spPr>
          <a:xfrm>
            <a:off x="9144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3" name="a0_266"/>
          <p:cNvSpPr txBox="1"/>
          <p:nvPr/>
        </p:nvSpPr>
        <p:spPr>
          <a:xfrm>
            <a:off x="7467600" y="7112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spc="16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· A SIMPLE GUIDE</a:t>
            </a:r>
            <a:endParaRPr lang="en-US" sz="1000" dirty="0"/>
          </a:p>
        </p:txBody>
      </p:sp>
      <p:sp>
        <p:nvSpPr>
          <p:cNvPr id="4" name="a150_267"/>
          <p:cNvSpPr txBox="1"/>
          <p:nvPr/>
        </p:nvSpPr>
        <p:spPr>
          <a:xfrm>
            <a:off x="863600" y="1587500"/>
            <a:ext cx="762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000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2000" dirty="0"/>
          </a:p>
        </p:txBody>
      </p:sp>
      <p:sp>
        <p:nvSpPr>
          <p:cNvPr id="5" name="a350_268"/>
          <p:cNvSpPr txBox="1"/>
          <p:nvPr/>
        </p:nvSpPr>
        <p:spPr>
          <a:xfrm>
            <a:off x="863600" y="2984500"/>
            <a:ext cx="76200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small.</a:t>
            </a:r>
            <a:endParaRPr lang="en-US" sz="12600" dirty="0"/>
          </a:p>
        </p:txBody>
      </p:sp>
      <p:sp>
        <p:nvSpPr>
          <p:cNvPr id="6" name="a700_269"/>
          <p:cNvSpPr txBox="1"/>
          <p:nvPr/>
        </p:nvSpPr>
        <p:spPr>
          <a:xfrm>
            <a:off x="914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agent.</a:t>
            </a:r>
            <a:endParaRPr lang="en-US" sz="3200" dirty="0"/>
          </a:p>
        </p:txBody>
      </p:sp>
      <p:sp>
        <p:nvSpPr>
          <p:cNvPr id="7" name="a1000_270"/>
          <p:cNvSpPr txBox="1"/>
          <p:nvPr/>
        </p:nvSpPr>
        <p:spPr>
          <a:xfrm>
            <a:off x="3581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</a:t>
            </a:r>
            <a:endParaRPr lang="en-US" sz="3200" dirty="0"/>
          </a:p>
        </p:txBody>
      </p:sp>
      <p:sp>
        <p:nvSpPr>
          <p:cNvPr id="8" name="a1300_271"/>
          <p:cNvSpPr txBox="1"/>
          <p:nvPr/>
        </p:nvSpPr>
        <p:spPr>
          <a:xfrm>
            <a:off x="6248400" y="5562600"/>
            <a:ext cx="279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week.</a:t>
            </a:r>
            <a:endParaRPr lang="en-US" sz="3200" dirty="0"/>
          </a:p>
        </p:txBody>
      </p:sp>
      <p:sp>
        <p:nvSpPr>
          <p:cNvPr id="9" name="a1900_272"/>
          <p:cNvSpPr txBox="1"/>
          <p:nvPr/>
        </p:nvSpPr>
        <p:spPr>
          <a:xfrm>
            <a:off x="9055100" y="5619750"/>
            <a:ext cx="2222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0" name="progress"/>
          <p:cNvSpPr/>
          <p:nvPr/>
        </p:nvSpPr>
        <p:spPr>
          <a:xfrm>
            <a:off x="0" y="6832600"/>
            <a:ext cx="12192000" cy="254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Agents: a simple guide</dc:title>
  <dc:subject>From chatting with AI to working with AI</dc:subject>
  <dc:creator>PptxGenJS</dc:creator>
  <cp:lastModifiedBy>PptxGenJS</cp:lastModifiedBy>
  <cp:revision>1</cp:revision>
  <dcterms:created xsi:type="dcterms:W3CDTF">2026-10-03T02:36:20Z</dcterms:created>
  <dcterms:modified xsi:type="dcterms:W3CDTF">2026-10-03T02:36:20Z</dcterms:modified>
</cp:coreProperties>
</file>